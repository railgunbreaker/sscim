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EF910-5697-2D1E-1B3E-CC8FF2496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898A0-2E58-CA7A-3002-2EF86278C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2EE51-B657-E612-3B68-2BDE7EE64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CEE27-7D3F-E6DB-F39A-8D21D4EA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9C471-583F-3C95-6151-FD1EE6FE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641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4720-8737-7A73-8E54-8E8EC809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B1EA-0153-C9F8-8A53-B561EA954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B5884-397B-1B48-4E6D-B9FB2060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2FB32-079A-6FEF-193F-33856FF1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4A191-7CCA-A5A5-3A7B-87A56A10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27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3396B-1A36-7F8B-F339-ABD70849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43DB2-D54A-10AB-E28E-28F1A3B17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3F4AE-865D-3C13-4B8F-B4C7998E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8819F-9A0A-DD79-C1F4-822E23D8F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37416-0091-68B9-6344-F6CC86F6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80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19AF-67BA-DD67-2803-DBBDD42FC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C72A2-DAC7-CE93-039F-FCF869549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72349-8ABC-77C0-6F4C-537E8258A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85ADA-444E-380E-2392-ABFD9427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98A4B-6E0C-0C4A-993A-A126F5BE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5BF50-9E0E-B40E-C8E2-B15184ED8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93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C749-6F7F-189E-9ABF-63E8537A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86F80-2B9E-99F9-F7B3-A3286AF65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FEDF8-CE30-AD1A-2FCE-636B2C80A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C935E-584F-B71B-C2AB-172F2626E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DF23E-719F-A384-8076-D2230BD5D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06F9F-56B2-87D7-3BBA-A941A79E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7542C0-3565-3517-5920-96411632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6C886-1633-CF62-02A5-864ED91D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20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026F7-3713-7B01-3532-980A80B4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1E405-17AF-8807-9F46-4478B916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ABEBF-96F8-ADA0-BAC5-DEED52EFA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FD941-92AE-2F9B-8EA3-2E31F645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79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07111-C3CC-2828-C5DD-249C2B11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25757-D6B1-9522-CB56-583FD3EC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D7647-C5E5-2B5E-B59F-B0C654C51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5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FB67-3AC2-F030-F8C9-D841E672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5DDC3-DEC2-0A7E-4907-B31FB15CA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0B454-C60C-E30E-4289-E404E62C2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03025-F4AC-B993-4F05-B79C19031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FCC11-0056-F7F2-54E8-4F4117CB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6EFE2-26A6-9E52-3E19-08318A6B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383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3066-912F-E228-C27C-6DAF99841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CB6F-16CD-7514-AB00-B747DEEE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C0441-2780-FBA9-C432-16B00B1AD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E1380-B77D-17DC-2143-B960FD59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1F3FE-4684-58DA-7751-6EE212B1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37C23-1BF9-064B-A1FA-55FB0176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768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421E-EC22-C15E-D91E-C51287E3A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C7368-1BEF-EAD0-C6ED-7E18FF521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D54F5-EC73-DB24-E9A1-1BBC06DC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FAEE-B651-D292-9F9A-4CFC44C6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1CED7-C73D-BEE4-861A-668906D2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2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199A3-6C32-4B7A-5168-2C344D3B3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C0A1F-8CCA-3B31-52DC-9859156F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6C5E3-0DED-8187-2EFA-F65F6853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40FF0-F743-0194-E647-EA575852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E28B9-B084-99D2-6EC6-663472E4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48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4124D7-FDF6-54C1-D427-1ACB6F2D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76DCC-BC04-3518-93B7-AC771CD56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65B43-8FEB-D4A1-A03F-40DDCF323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0BA1C-361D-4067-8157-C7E86012889D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94565-1438-9F5D-BA83-C79E5737D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4FD63-8D6E-F6B4-504F-F676C58BE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1C436-9372-46B8-B24D-A2CDE7F9F2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47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SCIM logo">
            <a:extLst>
              <a:ext uri="{FF2B5EF4-FFF2-40B4-BE49-F238E27FC236}">
                <a16:creationId xmlns:a16="http://schemas.microsoft.com/office/drawing/2014/main" id="{8029D1D8-7946-5635-59BD-A222287C82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93700"/>
            <a:ext cx="1243263" cy="6325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6E75C4-CB5D-9585-41E5-02EEB9842987}"/>
              </a:ext>
            </a:extLst>
          </p:cNvPr>
          <p:cNvSpPr txBox="1"/>
          <p:nvPr/>
        </p:nvSpPr>
        <p:spPr>
          <a:xfrm>
            <a:off x="533400" y="1498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C98A3F"/>
                </a:solidFill>
                <a:latin typeface="Aptos" panose="020B0004020202020204" pitchFamily="34" charset="0"/>
              </a:rPr>
              <a:t>SEMICONDUCTOR SUPPLY CHAIN INTELLIGENCE MAP</a:t>
            </a:r>
            <a:endParaRPr lang="zh-CN" altLang="en-US" sz="13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65DB8-4859-F236-BDEE-4055672E87D9}"/>
              </a:ext>
            </a:extLst>
          </p:cNvPr>
          <p:cNvSpPr txBox="1"/>
          <p:nvPr/>
        </p:nvSpPr>
        <p:spPr>
          <a:xfrm>
            <a:off x="533400" y="20066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800" b="1">
                <a:solidFill>
                  <a:srgbClr val="FFFFFF"/>
                </a:solidFill>
                <a:latin typeface="Aptos" panose="020B0004020202020204" pitchFamily="34" charset="0"/>
              </a:rPr>
              <a:t>See how a disruption moves - without hiding the assumptions.</a:t>
            </a:r>
            <a:endParaRPr lang="zh-CN" altLang="en-US" sz="4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CE437-9CDC-B6B5-6282-5F63454EF0F9}"/>
              </a:ext>
            </a:extLst>
          </p:cNvPr>
          <p:cNvSpPr txBox="1"/>
          <p:nvPr/>
        </p:nvSpPr>
        <p:spPr>
          <a:xfrm>
            <a:off x="533400" y="4165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>
                <a:solidFill>
                  <a:srgbClr val="E1D2C9"/>
                </a:solidFill>
                <a:latin typeface="Aptos" panose="020B0004020202020204" pitchFamily="34" charset="0"/>
              </a:rPr>
              <a:t>An explainable, deterministic research platform for mapping structure, tracing shocks, comparing scenarios, and reviewing evidence.</a:t>
            </a:r>
            <a:endParaRPr lang="zh-CN" altLang="en-US" sz="1900">
              <a:solidFill>
                <a:srgbClr val="E1D2C9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174F9-DF3B-17F1-9FD1-D3FF808147B7}"/>
              </a:ext>
            </a:extLst>
          </p:cNvPr>
          <p:cNvSpPr txBox="1"/>
          <p:nvPr/>
        </p:nvSpPr>
        <p:spPr>
          <a:xfrm>
            <a:off x="533400" y="6019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C98A3F"/>
                </a:solidFill>
                <a:latin typeface="Aptos" panose="020B0004020202020204" pitchFamily="34" charset="0"/>
              </a:rPr>
              <a:t>Project overview - snapshot 2026-07-29</a:t>
            </a:r>
            <a:endParaRPr lang="zh-CN" altLang="en-US" sz="13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58FA0-7B1F-9660-2836-0C8044B11D2D}"/>
              </a:ext>
            </a:extLst>
          </p:cNvPr>
          <p:cNvSpPr txBox="1"/>
          <p:nvPr/>
        </p:nvSpPr>
        <p:spPr>
          <a:xfrm>
            <a:off x="8166100" y="228600"/>
            <a:ext cx="379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LIVE PROJECT SCREENSHOT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8C7D9D-AD8F-30A4-9C45-C746E7CDE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1427748"/>
            <a:ext cx="5143409" cy="459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1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0307F2-9F4A-2F5A-AFE6-99781F3FBEAA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3FD6A-52A3-0ACA-892D-8EC9FDA244F1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Static maps show where. SSCIM explores what changes.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4FB845-EC2F-D4D5-BC1E-52EF5B998A9D}"/>
              </a:ext>
            </a:extLst>
          </p:cNvPr>
          <p:cNvSpPr txBox="1"/>
          <p:nvPr/>
        </p:nvSpPr>
        <p:spPr>
          <a:xfrm>
            <a:off x="406400" y="1524000"/>
            <a:ext cx="654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>
                <a:solidFill>
                  <a:srgbClr val="111111"/>
                </a:solidFill>
                <a:latin typeface="Aptos" panose="020B0004020202020204" pitchFamily="34" charset="0"/>
              </a:rPr>
              <a:t>Semiconductor production is globally distributed yet concentrated at critical stages. A single rule, outage, earthquake, or capacity decision can propagate far beyond its origin.</a:t>
            </a:r>
            <a:endParaRPr lang="zh-CN" altLang="en-US" sz="2200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82A5FE-250D-6B4D-F653-34B17DDC8836}"/>
              </a:ext>
            </a:extLst>
          </p:cNvPr>
          <p:cNvSpPr/>
          <p:nvPr/>
        </p:nvSpPr>
        <p:spPr>
          <a:xfrm>
            <a:off x="406400" y="3149599"/>
            <a:ext cx="5207000" cy="2814054"/>
          </a:xfrm>
          <a:prstGeom prst="roundRect">
            <a:avLst/>
          </a:prstGeom>
          <a:solidFill>
            <a:srgbClr val="0C11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06C8C-0825-A3F5-B3C6-9C4D587E6AFF}"/>
              </a:ext>
            </a:extLst>
          </p:cNvPr>
          <p:cNvSpPr txBox="1"/>
          <p:nvPr/>
        </p:nvSpPr>
        <p:spPr>
          <a:xfrm>
            <a:off x="660400" y="34163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C98A3F"/>
                </a:solidFill>
                <a:latin typeface="Aptos" panose="020B0004020202020204" pitchFamily="34" charset="0"/>
              </a:rPr>
              <a:t>The question</a:t>
            </a:r>
            <a:endParaRPr lang="zh-CN" altLang="en-US" sz="13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BAF78-287E-AD82-CA1F-ED1CA1EFEB8C}"/>
              </a:ext>
            </a:extLst>
          </p:cNvPr>
          <p:cNvSpPr txBox="1"/>
          <p:nvPr/>
        </p:nvSpPr>
        <p:spPr>
          <a:xfrm>
            <a:off x="660400" y="38989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400" b="1" dirty="0">
                <a:solidFill>
                  <a:srgbClr val="FFFFFF"/>
                </a:solidFill>
                <a:latin typeface="Aptos" panose="020B0004020202020204" pitchFamily="34" charset="0"/>
              </a:rPr>
              <a:t>Given this event and these stated assumptions, which modeled stages, companies, and countries become more exposed?</a:t>
            </a:r>
            <a:endParaRPr lang="zh-CN" altLang="en-US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ACEC5-D5B7-D21C-25A0-00F3D759ED6F}"/>
              </a:ext>
            </a:extLst>
          </p:cNvPr>
          <p:cNvSpPr txBox="1"/>
          <p:nvPr/>
        </p:nvSpPr>
        <p:spPr>
          <a:xfrm>
            <a:off x="7569200" y="16002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111111"/>
                </a:solidFill>
                <a:latin typeface="Aptos" panose="020B0004020202020204" pitchFamily="34" charset="0"/>
              </a:rPr>
              <a:t>What SSCIM refuses to claim</a:t>
            </a:r>
            <a:endParaRPr lang="zh-CN" altLang="en-US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BD48F9-95B5-2B9B-A77D-B008B29E71D1}"/>
              </a:ext>
            </a:extLst>
          </p:cNvPr>
          <p:cNvSpPr/>
          <p:nvPr/>
        </p:nvSpPr>
        <p:spPr>
          <a:xfrm>
            <a:off x="7569200" y="2209800"/>
            <a:ext cx="152400" cy="152400"/>
          </a:xfrm>
          <a:prstGeom prst="rect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97114-2051-0994-324A-543EAAE4C9EA}"/>
              </a:ext>
            </a:extLst>
          </p:cNvPr>
          <p:cNvSpPr txBox="1"/>
          <p:nvPr/>
        </p:nvSpPr>
        <p:spPr>
          <a:xfrm>
            <a:off x="7899400" y="21463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No probability of disruption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EB27B0-9DAC-116C-7348-8E0584325003}"/>
              </a:ext>
            </a:extLst>
          </p:cNvPr>
          <p:cNvSpPr/>
          <p:nvPr/>
        </p:nvSpPr>
        <p:spPr>
          <a:xfrm>
            <a:off x="7569200" y="2832100"/>
            <a:ext cx="152400" cy="152400"/>
          </a:xfrm>
          <a:prstGeom prst="rect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47F62E-3307-4CCF-A22B-CFFA3E66D75D}"/>
              </a:ext>
            </a:extLst>
          </p:cNvPr>
          <p:cNvSpPr txBox="1"/>
          <p:nvPr/>
        </p:nvSpPr>
        <p:spPr>
          <a:xfrm>
            <a:off x="7899400" y="2768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No realized financial loss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097C28-8EED-9F4D-356B-826344900468}"/>
              </a:ext>
            </a:extLst>
          </p:cNvPr>
          <p:cNvSpPr/>
          <p:nvPr/>
        </p:nvSpPr>
        <p:spPr>
          <a:xfrm>
            <a:off x="7569200" y="3454400"/>
            <a:ext cx="152400" cy="152400"/>
          </a:xfrm>
          <a:prstGeom prst="rect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584703-53F7-770A-A56C-31CF2E00767F}"/>
              </a:ext>
            </a:extLst>
          </p:cNvPr>
          <p:cNvSpPr txBox="1"/>
          <p:nvPr/>
        </p:nvSpPr>
        <p:spPr>
          <a:xfrm>
            <a:off x="7899400" y="3390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No measured trade volume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881910-ED1F-43E2-DCDC-CFAE84CB0DEC}"/>
              </a:ext>
            </a:extLst>
          </p:cNvPr>
          <p:cNvSpPr/>
          <p:nvPr/>
        </p:nvSpPr>
        <p:spPr>
          <a:xfrm>
            <a:off x="7569200" y="4076700"/>
            <a:ext cx="152400" cy="152400"/>
          </a:xfrm>
          <a:prstGeom prst="rect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07499B-A1A4-E543-99D8-77ECC4769538}"/>
              </a:ext>
            </a:extLst>
          </p:cNvPr>
          <p:cNvSpPr txBox="1"/>
          <p:nvPr/>
        </p:nvSpPr>
        <p:spPr>
          <a:xfrm>
            <a:off x="7899400" y="4013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No investment signal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6FBC50-A3AF-9D31-E863-68FF5866B83E}"/>
              </a:ext>
            </a:extLst>
          </p:cNvPr>
          <p:cNvSpPr/>
          <p:nvPr/>
        </p:nvSpPr>
        <p:spPr>
          <a:xfrm>
            <a:off x="7569200" y="4699000"/>
            <a:ext cx="152400" cy="152400"/>
          </a:xfrm>
          <a:prstGeom prst="rect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EF43DC-1329-FA0A-289E-F9B8B5D7AE9C}"/>
              </a:ext>
            </a:extLst>
          </p:cNvPr>
          <p:cNvSpPr txBox="1"/>
          <p:nvPr/>
        </p:nvSpPr>
        <p:spPr>
          <a:xfrm>
            <a:off x="7899400" y="4635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No hidden confidence weighting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BA9026-7959-375B-0923-961DBB165870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B13C71-3343-A93E-B910-D978BFE022EF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D82D50-5E63-957B-50BB-F2E099FBD813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2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3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7AD17A-7C66-57EC-B268-61BE025C59AD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CDD80-AC22-CB5B-8EB0-B62784EF46F1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A single product surface connects structure, events, and evidence.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C4535-626F-0B52-1EB4-DB16C9331077}"/>
              </a:ext>
            </a:extLst>
          </p:cNvPr>
          <p:cNvSpPr txBox="1"/>
          <p:nvPr/>
        </p:nvSpPr>
        <p:spPr>
          <a:xfrm>
            <a:off x="635000" y="1828800"/>
            <a:ext cx="678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LIVE PROJECT SCREENSHOT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35E49A-F43D-C376-04E4-EF97F57145B3}"/>
              </a:ext>
            </a:extLst>
          </p:cNvPr>
          <p:cNvSpPr/>
          <p:nvPr/>
        </p:nvSpPr>
        <p:spPr>
          <a:xfrm>
            <a:off x="8026400" y="1600200"/>
            <a:ext cx="1727200" cy="13208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D2F8F-8A0E-4D54-6871-2C0E6BAE704E}"/>
              </a:ext>
            </a:extLst>
          </p:cNvPr>
          <p:cNvSpPr txBox="1"/>
          <p:nvPr/>
        </p:nvSpPr>
        <p:spPr>
          <a:xfrm>
            <a:off x="8229600" y="17907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 b="1">
                <a:solidFill>
                  <a:srgbClr val="111111"/>
                </a:solidFill>
                <a:latin typeface="Aptos" panose="020B0004020202020204" pitchFamily="34" charset="0"/>
              </a:rPr>
              <a:t>24</a:t>
            </a:r>
            <a:endParaRPr lang="zh-CN" altLang="en-US" sz="31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32A6A-6CD0-7B6C-7468-23024C1EDE3D}"/>
              </a:ext>
            </a:extLst>
          </p:cNvPr>
          <p:cNvSpPr txBox="1"/>
          <p:nvPr/>
        </p:nvSpPr>
        <p:spPr>
          <a:xfrm>
            <a:off x="8229600" y="25654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666666"/>
                </a:solidFill>
                <a:latin typeface="Aptos" panose="020B0004020202020204" pitchFamily="34" charset="0"/>
              </a:rPr>
              <a:t>production stages</a:t>
            </a:r>
            <a:endParaRPr lang="zh-CN" altLang="en-US" sz="13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B445677-D0FD-A9B4-9D64-46A3355155DF}"/>
              </a:ext>
            </a:extLst>
          </p:cNvPr>
          <p:cNvSpPr/>
          <p:nvPr/>
        </p:nvSpPr>
        <p:spPr>
          <a:xfrm>
            <a:off x="9982200" y="1600200"/>
            <a:ext cx="1803400" cy="13208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711209-C12F-5C68-BEFA-26CC4BE1B689}"/>
              </a:ext>
            </a:extLst>
          </p:cNvPr>
          <p:cNvSpPr txBox="1"/>
          <p:nvPr/>
        </p:nvSpPr>
        <p:spPr>
          <a:xfrm>
            <a:off x="10185400" y="17907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 b="1">
                <a:solidFill>
                  <a:srgbClr val="111111"/>
                </a:solidFill>
                <a:latin typeface="Aptos" panose="020B0004020202020204" pitchFamily="34" charset="0"/>
              </a:rPr>
              <a:t>34</a:t>
            </a:r>
            <a:endParaRPr lang="zh-CN" altLang="en-US" sz="31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D65E86-B335-E83A-536B-E9FCD0FCB8BF}"/>
              </a:ext>
            </a:extLst>
          </p:cNvPr>
          <p:cNvSpPr txBox="1"/>
          <p:nvPr/>
        </p:nvSpPr>
        <p:spPr>
          <a:xfrm>
            <a:off x="10185400" y="25654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666666"/>
                </a:solidFill>
                <a:latin typeface="Aptos" panose="020B0004020202020204" pitchFamily="34" charset="0"/>
              </a:rPr>
              <a:t>directed dependencies</a:t>
            </a:r>
            <a:endParaRPr lang="zh-CN" altLang="en-US" sz="13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328722-0873-172C-757B-91561AB425A0}"/>
              </a:ext>
            </a:extLst>
          </p:cNvPr>
          <p:cNvSpPr/>
          <p:nvPr/>
        </p:nvSpPr>
        <p:spPr>
          <a:xfrm>
            <a:off x="8026400" y="3149600"/>
            <a:ext cx="1727200" cy="13208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8F7FB1-AECF-CD51-E2E9-9E263BD3E79B}"/>
              </a:ext>
            </a:extLst>
          </p:cNvPr>
          <p:cNvSpPr txBox="1"/>
          <p:nvPr/>
        </p:nvSpPr>
        <p:spPr>
          <a:xfrm>
            <a:off x="8229600" y="33401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 b="1">
                <a:solidFill>
                  <a:srgbClr val="111111"/>
                </a:solidFill>
                <a:latin typeface="Aptos" panose="020B0004020202020204" pitchFamily="34" charset="0"/>
              </a:rPr>
              <a:t>109</a:t>
            </a:r>
            <a:endParaRPr lang="zh-CN" altLang="en-US" sz="31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CB9587-D55C-2AED-5E75-41EAE5CD1B38}"/>
              </a:ext>
            </a:extLst>
          </p:cNvPr>
          <p:cNvSpPr txBox="1"/>
          <p:nvPr/>
        </p:nvSpPr>
        <p:spPr>
          <a:xfrm>
            <a:off x="8229600" y="41148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666666"/>
                </a:solidFill>
                <a:latin typeface="Aptos" panose="020B0004020202020204" pitchFamily="34" charset="0"/>
              </a:rPr>
              <a:t>modeled companies</a:t>
            </a:r>
            <a:endParaRPr lang="zh-CN" altLang="en-US" sz="13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3C35F0-8D70-7AB9-B4B0-961C4581267E}"/>
              </a:ext>
            </a:extLst>
          </p:cNvPr>
          <p:cNvSpPr/>
          <p:nvPr/>
        </p:nvSpPr>
        <p:spPr>
          <a:xfrm>
            <a:off x="9982200" y="3149600"/>
            <a:ext cx="1803400" cy="13208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97100-009A-A4C7-6CEA-2549F31AE988}"/>
              </a:ext>
            </a:extLst>
          </p:cNvPr>
          <p:cNvSpPr txBox="1"/>
          <p:nvPr/>
        </p:nvSpPr>
        <p:spPr>
          <a:xfrm>
            <a:off x="10185400" y="33401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 b="1">
                <a:solidFill>
                  <a:srgbClr val="111111"/>
                </a:solidFill>
                <a:latin typeface="Aptos" panose="020B0004020202020204" pitchFamily="34" charset="0"/>
              </a:rPr>
              <a:t>56</a:t>
            </a:r>
            <a:endParaRPr lang="zh-CN" altLang="en-US" sz="31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2A02AC-6A23-434D-5D06-94E92A9EE3F4}"/>
              </a:ext>
            </a:extLst>
          </p:cNvPr>
          <p:cNvSpPr txBox="1"/>
          <p:nvPr/>
        </p:nvSpPr>
        <p:spPr>
          <a:xfrm>
            <a:off x="10185400" y="4114800"/>
            <a:ext cx="139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666666"/>
                </a:solidFill>
                <a:latin typeface="Aptos" panose="020B0004020202020204" pitchFamily="34" charset="0"/>
              </a:rPr>
              <a:t>reviewed live events</a:t>
            </a:r>
            <a:endParaRPr lang="zh-CN" altLang="en-US" sz="13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28C7B4-D77D-FE1E-D1E3-C8928D44A3C4}"/>
              </a:ext>
            </a:extLst>
          </p:cNvPr>
          <p:cNvSpPr txBox="1"/>
          <p:nvPr/>
        </p:nvSpPr>
        <p:spPr>
          <a:xfrm>
            <a:off x="8026400" y="4813300"/>
            <a:ext cx="375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Also represented: 16 countries, 243 supplier/customer relationships, 75 ownership records, and 7 policy instruments.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525F0B-866E-533C-8907-D4583241B3B7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B862E9-A7CA-64A8-4C0B-987CBE094E71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D5DB6A-6C83-104B-BF27-CB4213F4915F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3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667E2DC-615E-0B32-F574-2913895C6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116" y="2067699"/>
            <a:ext cx="4503823" cy="432048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481C4EC-7D5F-7BF0-627D-FFBA5C7AE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387" y="2646947"/>
            <a:ext cx="6275813" cy="287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4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14348-F5A0-76F9-00BB-67BCFE7D77E0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46AD6-795D-4D08-9F7A-47CD67D7CD8E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A reader moves from evidence to explanation in five steps.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FE87C7-8125-1ED2-FD49-23AB386EDB90}"/>
              </a:ext>
            </a:extLst>
          </p:cNvPr>
          <p:cNvSpPr/>
          <p:nvPr/>
        </p:nvSpPr>
        <p:spPr>
          <a:xfrm>
            <a:off x="406400" y="1841500"/>
            <a:ext cx="457200" cy="457200"/>
          </a:xfrm>
          <a:prstGeom prst="ellipse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FA1C5-3B97-5A09-D90F-22B86D8BE12C}"/>
              </a:ext>
            </a:extLst>
          </p:cNvPr>
          <p:cNvSpPr txBox="1"/>
          <p:nvPr/>
        </p:nvSpPr>
        <p:spPr>
          <a:xfrm>
            <a:off x="406400" y="18669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  <a:endParaRPr lang="zh-CN" altLang="en-US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D42BE-4815-BE14-04A4-B43AE5395E13}"/>
              </a:ext>
            </a:extLst>
          </p:cNvPr>
          <p:cNvSpPr txBox="1"/>
          <p:nvPr/>
        </p:nvSpPr>
        <p:spPr>
          <a:xfrm>
            <a:off x="1041400" y="1841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111111"/>
                </a:solidFill>
                <a:latin typeface="Aptos" panose="020B0004020202020204" pitchFamily="34" charset="0"/>
              </a:rPr>
              <a:t>Select</a:t>
            </a:r>
            <a:endParaRPr lang="zh-CN" altLang="en-US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92EBB-891B-E612-3C35-1B9542BEFA0D}"/>
              </a:ext>
            </a:extLst>
          </p:cNvPr>
          <p:cNvSpPr txBox="1"/>
          <p:nvPr/>
        </p:nvSpPr>
        <p:spPr>
          <a:xfrm>
            <a:off x="1041400" y="2273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Choose a sourced event or build a hypothetical scenario.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CC3563-AB50-6DF8-666C-F7553DA83263}"/>
              </a:ext>
            </a:extLst>
          </p:cNvPr>
          <p:cNvCxnSpPr/>
          <p:nvPr/>
        </p:nvCxnSpPr>
        <p:spPr>
          <a:xfrm>
            <a:off x="2311400" y="2082800"/>
            <a:ext cx="431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526A996-AF93-E222-C408-24BC60A56351}"/>
              </a:ext>
            </a:extLst>
          </p:cNvPr>
          <p:cNvSpPr/>
          <p:nvPr/>
        </p:nvSpPr>
        <p:spPr>
          <a:xfrm>
            <a:off x="2743200" y="1841500"/>
            <a:ext cx="457200" cy="457200"/>
          </a:xfrm>
          <a:prstGeom prst="ellipse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BCC75-1896-69FB-6D06-8AC1E8EB508B}"/>
              </a:ext>
            </a:extLst>
          </p:cNvPr>
          <p:cNvSpPr txBox="1"/>
          <p:nvPr/>
        </p:nvSpPr>
        <p:spPr>
          <a:xfrm>
            <a:off x="2743200" y="18669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  <a:endParaRPr lang="zh-CN" altLang="en-US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DCBDB-3B4D-A739-F5DA-BF3CD6E7BFEC}"/>
              </a:ext>
            </a:extLst>
          </p:cNvPr>
          <p:cNvSpPr txBox="1"/>
          <p:nvPr/>
        </p:nvSpPr>
        <p:spPr>
          <a:xfrm>
            <a:off x="3378200" y="1841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111111"/>
                </a:solidFill>
                <a:latin typeface="Aptos" panose="020B0004020202020204" pitchFamily="34" charset="0"/>
              </a:rPr>
              <a:t>Inspect</a:t>
            </a:r>
            <a:endParaRPr lang="zh-CN" altLang="en-US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80D0D-B025-57FB-15EC-E0CA103DD641}"/>
              </a:ext>
            </a:extLst>
          </p:cNvPr>
          <p:cNvSpPr txBox="1"/>
          <p:nvPr/>
        </p:nvSpPr>
        <p:spPr>
          <a:xfrm>
            <a:off x="3378200" y="2273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Read the date, source, confidence, affected stages, and exclusions.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AAE308-4BCA-BB87-8FBB-33FC5A4DC396}"/>
              </a:ext>
            </a:extLst>
          </p:cNvPr>
          <p:cNvCxnSpPr/>
          <p:nvPr/>
        </p:nvCxnSpPr>
        <p:spPr>
          <a:xfrm>
            <a:off x="4648200" y="2082800"/>
            <a:ext cx="431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DF68D28-F98A-7A12-78B0-79A5FDCD1734}"/>
              </a:ext>
            </a:extLst>
          </p:cNvPr>
          <p:cNvSpPr/>
          <p:nvPr/>
        </p:nvSpPr>
        <p:spPr>
          <a:xfrm>
            <a:off x="5080000" y="1841500"/>
            <a:ext cx="457200" cy="457200"/>
          </a:xfrm>
          <a:prstGeom prst="ellipse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5548F8-05DB-4F92-6884-6EA39B0C1B94}"/>
              </a:ext>
            </a:extLst>
          </p:cNvPr>
          <p:cNvSpPr txBox="1"/>
          <p:nvPr/>
        </p:nvSpPr>
        <p:spPr>
          <a:xfrm>
            <a:off x="5080000" y="18669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  <a:endParaRPr lang="zh-CN" altLang="en-US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E6A3EC-0CB6-BC3A-75C5-99247390A731}"/>
              </a:ext>
            </a:extLst>
          </p:cNvPr>
          <p:cNvSpPr txBox="1"/>
          <p:nvPr/>
        </p:nvSpPr>
        <p:spPr>
          <a:xfrm>
            <a:off x="5715000" y="1841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111111"/>
                </a:solidFill>
                <a:latin typeface="Aptos" panose="020B0004020202020204" pitchFamily="34" charset="0"/>
              </a:rPr>
              <a:t>Trace</a:t>
            </a:r>
            <a:endParaRPr lang="zh-CN" altLang="en-US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97B771-2D9A-2540-066A-BB348B3B7A67}"/>
              </a:ext>
            </a:extLst>
          </p:cNvPr>
          <p:cNvSpPr txBox="1"/>
          <p:nvPr/>
        </p:nvSpPr>
        <p:spPr>
          <a:xfrm>
            <a:off x="5715000" y="2273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Follow the same selection across the map, flow graph, and topology.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D71EFD-11FD-53C5-36EC-8034D193FDE3}"/>
              </a:ext>
            </a:extLst>
          </p:cNvPr>
          <p:cNvCxnSpPr/>
          <p:nvPr/>
        </p:nvCxnSpPr>
        <p:spPr>
          <a:xfrm>
            <a:off x="6985000" y="2082800"/>
            <a:ext cx="431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888A680-29E6-B5B9-D1A4-3D3E6AD64285}"/>
              </a:ext>
            </a:extLst>
          </p:cNvPr>
          <p:cNvSpPr/>
          <p:nvPr/>
        </p:nvSpPr>
        <p:spPr>
          <a:xfrm>
            <a:off x="7416800" y="1841500"/>
            <a:ext cx="457200" cy="457200"/>
          </a:xfrm>
          <a:prstGeom prst="ellipse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25AC72-CFD1-125A-AC53-F7DD836D6F7B}"/>
              </a:ext>
            </a:extLst>
          </p:cNvPr>
          <p:cNvSpPr txBox="1"/>
          <p:nvPr/>
        </p:nvSpPr>
        <p:spPr>
          <a:xfrm>
            <a:off x="7416800" y="18669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  <a:endParaRPr lang="zh-CN" altLang="en-US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557A41-F418-2C07-BD42-E7D0AE284F2C}"/>
              </a:ext>
            </a:extLst>
          </p:cNvPr>
          <p:cNvSpPr txBox="1"/>
          <p:nvPr/>
        </p:nvSpPr>
        <p:spPr>
          <a:xfrm>
            <a:off x="8051800" y="1841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111111"/>
                </a:solidFill>
                <a:latin typeface="Aptos" panose="020B0004020202020204" pitchFamily="34" charset="0"/>
              </a:rPr>
              <a:t>Compare</a:t>
            </a:r>
            <a:endParaRPr lang="zh-CN" altLang="en-US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781FE5-87CC-CC15-90AE-913F7B192A4D}"/>
              </a:ext>
            </a:extLst>
          </p:cNvPr>
          <p:cNvSpPr txBox="1"/>
          <p:nvPr/>
        </p:nvSpPr>
        <p:spPr>
          <a:xfrm>
            <a:off x="8051800" y="2273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Switch lenses, remove links, compare routes, or test sensitivity.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318E69-F8E5-A27C-37DB-0DE1A07837E0}"/>
              </a:ext>
            </a:extLst>
          </p:cNvPr>
          <p:cNvCxnSpPr/>
          <p:nvPr/>
        </p:nvCxnSpPr>
        <p:spPr>
          <a:xfrm>
            <a:off x="9321800" y="2082800"/>
            <a:ext cx="431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2D9B23D-2E8F-75D4-2C33-3B49B8FA36F0}"/>
              </a:ext>
            </a:extLst>
          </p:cNvPr>
          <p:cNvSpPr/>
          <p:nvPr/>
        </p:nvSpPr>
        <p:spPr>
          <a:xfrm>
            <a:off x="9753600" y="1841500"/>
            <a:ext cx="457200" cy="457200"/>
          </a:xfrm>
          <a:prstGeom prst="ellipse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737135-53D1-E645-9119-8B7D66A2263F}"/>
              </a:ext>
            </a:extLst>
          </p:cNvPr>
          <p:cNvSpPr txBox="1"/>
          <p:nvPr/>
        </p:nvSpPr>
        <p:spPr>
          <a:xfrm>
            <a:off x="9753600" y="18669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  <a:endParaRPr lang="zh-CN" altLang="en-US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FC3C43-C568-F274-B4F6-EA9A2183219C}"/>
              </a:ext>
            </a:extLst>
          </p:cNvPr>
          <p:cNvSpPr txBox="1"/>
          <p:nvPr/>
        </p:nvSpPr>
        <p:spPr>
          <a:xfrm>
            <a:off x="10388600" y="1841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111111"/>
                </a:solidFill>
                <a:latin typeface="Aptos" panose="020B0004020202020204" pitchFamily="34" charset="0"/>
              </a:rPr>
              <a:t>Brief</a:t>
            </a:r>
            <a:endParaRPr lang="zh-CN" altLang="en-US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E5E42E-B2A1-75ED-3059-987584CAC106}"/>
              </a:ext>
            </a:extLst>
          </p:cNvPr>
          <p:cNvSpPr txBox="1"/>
          <p:nvPr/>
        </p:nvSpPr>
        <p:spPr>
          <a:xfrm>
            <a:off x="10388600" y="22733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Generate a current or archived briefing without rewriting history.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7742ECA-D505-61CF-DA68-9BDE8808F20C}"/>
              </a:ext>
            </a:extLst>
          </p:cNvPr>
          <p:cNvSpPr/>
          <p:nvPr/>
        </p:nvSpPr>
        <p:spPr>
          <a:xfrm>
            <a:off x="406400" y="4445000"/>
            <a:ext cx="11379200" cy="13716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E062DE-1D47-1622-9C35-F84519B0F1B6}"/>
              </a:ext>
            </a:extLst>
          </p:cNvPr>
          <p:cNvSpPr txBox="1"/>
          <p:nvPr/>
        </p:nvSpPr>
        <p:spPr>
          <a:xfrm>
            <a:off x="660400" y="47117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C98A3F"/>
                </a:solidFill>
                <a:latin typeface="Aptos" panose="020B0004020202020204" pitchFamily="34" charset="0"/>
              </a:rPr>
              <a:t>Interpretation rule</a:t>
            </a:r>
            <a:endParaRPr lang="zh-CN" altLang="en-US" sz="15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ED436B-7AA8-1760-8CDC-37FBC45F2F56}"/>
              </a:ext>
            </a:extLst>
          </p:cNvPr>
          <p:cNvSpPr txBox="1"/>
          <p:nvPr/>
        </p:nvSpPr>
        <p:spPr>
          <a:xfrm>
            <a:off x="660400" y="5181600"/>
            <a:ext cx="1061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111111"/>
                </a:solidFill>
                <a:latin typeface="Aptos" panose="020B0004020202020204" pitchFamily="34" charset="0"/>
              </a:rPr>
              <a:t>A high score is a question to investigate, not an answer. Use the source and assumptions to decide whether the modeled pathway is credible.</a:t>
            </a:r>
            <a:endParaRPr lang="zh-CN" altLang="en-US" sz="20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2E997F-D5BB-5660-AF2A-7F92ACFFE462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9A8C366-3FC2-0B3F-7C1B-215F1BA0A771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803194-55D1-DFEE-C9C5-2AB7804A4D2F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4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26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8498A-5ABD-E010-A797-C44A1C0391E7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CFCF0-D281-9238-88DF-D23EBC272EAA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One selection, three synchronized views.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Screenshot-frame-dashboard-map.png">
            <a:extLst>
              <a:ext uri="{FF2B5EF4-FFF2-40B4-BE49-F238E27FC236}">
                <a16:creationId xmlns:a16="http://schemas.microsoft.com/office/drawing/2014/main" id="{2E723DFE-A9FE-3942-E26F-1A5C36BF5697}"/>
              </a:ext>
            </a:extLst>
          </p:cNvPr>
          <p:cNvSpPr/>
          <p:nvPr/>
        </p:nvSpPr>
        <p:spPr>
          <a:xfrm>
            <a:off x="406400" y="1651000"/>
            <a:ext cx="3581400" cy="2667000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74934-C86C-C116-E2EE-7B4D32DAC1D4}"/>
              </a:ext>
            </a:extLst>
          </p:cNvPr>
          <p:cNvSpPr txBox="1"/>
          <p:nvPr/>
        </p:nvSpPr>
        <p:spPr>
          <a:xfrm>
            <a:off x="635000" y="18796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LIVE PROJECT SCREENSHOT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7B483B-DD24-059F-4664-44854DE6E7E2}"/>
              </a:ext>
            </a:extLst>
          </p:cNvPr>
          <p:cNvSpPr txBox="1"/>
          <p:nvPr/>
        </p:nvSpPr>
        <p:spPr>
          <a:xfrm>
            <a:off x="635000" y="23368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111111"/>
                </a:solidFill>
                <a:latin typeface="Aptos" panose="020B0004020202020204" pitchFamily="34" charset="0"/>
              </a:rPr>
              <a:t>World map - production geography</a:t>
            </a:r>
            <a:endParaRPr lang="zh-CN" altLang="en-US" sz="22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5F83D-7A26-6298-283D-25A3E9804CD4}"/>
              </a:ext>
            </a:extLst>
          </p:cNvPr>
          <p:cNvSpPr txBox="1"/>
          <p:nvPr/>
        </p:nvSpPr>
        <p:spPr>
          <a:xfrm>
            <a:off x="635000" y="37846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666666"/>
                </a:solidFill>
                <a:latin typeface="Aptos" panose="020B0004020202020204" pitchFamily="34" charset="0"/>
              </a:rPr>
              <a:t>Capture required: dashboard-map.png</a:t>
            </a:r>
            <a:endParaRPr lang="zh-CN" altLang="en-US" sz="11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8" name="Screenshot-frame-dashboard-flow.png">
            <a:extLst>
              <a:ext uri="{FF2B5EF4-FFF2-40B4-BE49-F238E27FC236}">
                <a16:creationId xmlns:a16="http://schemas.microsoft.com/office/drawing/2014/main" id="{C6E62064-9835-5B7D-E2BC-1D2DE00465E7}"/>
              </a:ext>
            </a:extLst>
          </p:cNvPr>
          <p:cNvSpPr/>
          <p:nvPr/>
        </p:nvSpPr>
        <p:spPr>
          <a:xfrm>
            <a:off x="4305300" y="1651000"/>
            <a:ext cx="3581400" cy="2667000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8EB122-F956-C2F0-5040-A125B72EDF44}"/>
              </a:ext>
            </a:extLst>
          </p:cNvPr>
          <p:cNvSpPr txBox="1"/>
          <p:nvPr/>
        </p:nvSpPr>
        <p:spPr>
          <a:xfrm>
            <a:off x="4533900" y="18796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LIVE PROJECT SCREENSHOT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7ADB58-340D-AD38-2DDE-5A5D7C38BF2A}"/>
              </a:ext>
            </a:extLst>
          </p:cNvPr>
          <p:cNvSpPr txBox="1"/>
          <p:nvPr/>
        </p:nvSpPr>
        <p:spPr>
          <a:xfrm>
            <a:off x="4533900" y="23368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111111"/>
                </a:solidFill>
                <a:latin typeface="Aptos" panose="020B0004020202020204" pitchFamily="34" charset="0"/>
              </a:rPr>
              <a:t>Industry flow - stage dependencies</a:t>
            </a:r>
            <a:endParaRPr lang="zh-CN" altLang="en-US" sz="22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F104A1-3D5F-D6F6-2A2A-B7C5FF44F5C7}"/>
              </a:ext>
            </a:extLst>
          </p:cNvPr>
          <p:cNvSpPr txBox="1"/>
          <p:nvPr/>
        </p:nvSpPr>
        <p:spPr>
          <a:xfrm>
            <a:off x="4533900" y="37846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666666"/>
                </a:solidFill>
                <a:latin typeface="Aptos" panose="020B0004020202020204" pitchFamily="34" charset="0"/>
              </a:rPr>
              <a:t>Capture required: dashboard-flow.png</a:t>
            </a:r>
            <a:endParaRPr lang="zh-CN" altLang="en-US" sz="11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2" name="Screenshot-frame-topology.png">
            <a:extLst>
              <a:ext uri="{FF2B5EF4-FFF2-40B4-BE49-F238E27FC236}">
                <a16:creationId xmlns:a16="http://schemas.microsoft.com/office/drawing/2014/main" id="{5F81B726-A521-2348-B174-F7CD72732BEC}"/>
              </a:ext>
            </a:extLst>
          </p:cNvPr>
          <p:cNvSpPr/>
          <p:nvPr/>
        </p:nvSpPr>
        <p:spPr>
          <a:xfrm>
            <a:off x="8204200" y="1651000"/>
            <a:ext cx="3581400" cy="2667000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6A0EE-3A2B-D41A-15F0-D20ED64E0C86}"/>
              </a:ext>
            </a:extLst>
          </p:cNvPr>
          <p:cNvSpPr txBox="1"/>
          <p:nvPr/>
        </p:nvSpPr>
        <p:spPr>
          <a:xfrm>
            <a:off x="8432800" y="18796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LIVE PROJECT SCREENSHOT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65DA9B-DB5F-30A2-6A99-5897BA4D2337}"/>
              </a:ext>
            </a:extLst>
          </p:cNvPr>
          <p:cNvSpPr txBox="1"/>
          <p:nvPr/>
        </p:nvSpPr>
        <p:spPr>
          <a:xfrm>
            <a:off x="8432800" y="23368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111111"/>
                </a:solidFill>
                <a:latin typeface="Aptos" panose="020B0004020202020204" pitchFamily="34" charset="0"/>
              </a:rPr>
              <a:t>Topology - country x stage centres</a:t>
            </a:r>
            <a:endParaRPr lang="zh-CN" altLang="en-US" sz="22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5E1CC4-DD42-BCFC-4FC1-F58669DFED4A}"/>
              </a:ext>
            </a:extLst>
          </p:cNvPr>
          <p:cNvSpPr txBox="1"/>
          <p:nvPr/>
        </p:nvSpPr>
        <p:spPr>
          <a:xfrm>
            <a:off x="8432800" y="3784600"/>
            <a:ext cx="312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666666"/>
                </a:solidFill>
                <a:latin typeface="Aptos" panose="020B0004020202020204" pitchFamily="34" charset="0"/>
              </a:rPr>
              <a:t>Capture required: topology.png</a:t>
            </a:r>
            <a:endParaRPr lang="zh-CN" altLang="en-US" sz="11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FB7DD-ACE9-8BC7-611B-341B4D56262E}"/>
              </a:ext>
            </a:extLst>
          </p:cNvPr>
          <p:cNvSpPr txBox="1"/>
          <p:nvPr/>
        </p:nvSpPr>
        <p:spPr>
          <a:xfrm>
            <a:off x="406400" y="46355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 b="1">
                <a:solidFill>
                  <a:srgbClr val="C98A3F"/>
                </a:solidFill>
                <a:latin typeface="Aptos" panose="020B0004020202020204" pitchFamily="34" charset="0"/>
              </a:rPr>
              <a:t>MAP</a:t>
            </a:r>
            <a:endParaRPr lang="zh-CN" altLang="en-US" sz="14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DC4CC-7F0F-82CD-0DB3-8243748690F4}"/>
              </a:ext>
            </a:extLst>
          </p:cNvPr>
          <p:cNvSpPr txBox="1"/>
          <p:nvPr/>
        </p:nvSpPr>
        <p:spPr>
          <a:xfrm>
            <a:off x="406400" y="50038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Country exposure aggregated from where production occurs - not headquarters.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F9A232-8D64-7E27-3371-671E29C7A01E}"/>
              </a:ext>
            </a:extLst>
          </p:cNvPr>
          <p:cNvSpPr txBox="1"/>
          <p:nvPr/>
        </p:nvSpPr>
        <p:spPr>
          <a:xfrm>
            <a:off x="4305300" y="46355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 b="1">
                <a:solidFill>
                  <a:srgbClr val="C98A3F"/>
                </a:solidFill>
                <a:latin typeface="Aptos" panose="020B0004020202020204" pitchFamily="34" charset="0"/>
              </a:rPr>
              <a:t>INDUSTRY FLOW</a:t>
            </a:r>
            <a:endParaRPr lang="zh-CN" altLang="en-US" sz="14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60826E-D909-C241-8B14-09AC2B72D7AC}"/>
              </a:ext>
            </a:extLst>
          </p:cNvPr>
          <p:cNvSpPr txBox="1"/>
          <p:nvPr/>
        </p:nvSpPr>
        <p:spPr>
          <a:xfrm>
            <a:off x="4305300" y="50038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Stage structure and declared input-dependence priors reveal why a shock spreads.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A5A1C9-5A72-BBEA-5EB7-50F44FC54BD7}"/>
              </a:ext>
            </a:extLst>
          </p:cNvPr>
          <p:cNvSpPr txBox="1"/>
          <p:nvPr/>
        </p:nvSpPr>
        <p:spPr>
          <a:xfrm>
            <a:off x="8204200" y="46355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 b="1">
                <a:solidFill>
                  <a:srgbClr val="C98A3F"/>
                </a:solidFill>
                <a:latin typeface="Aptos" panose="020B0004020202020204" pitchFamily="34" charset="0"/>
              </a:rPr>
              <a:t>TOPOLOGY</a:t>
            </a:r>
            <a:endParaRPr lang="zh-CN" altLang="en-US" sz="14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D28A0F-E97A-11A3-FF25-43BDD7F73216}"/>
              </a:ext>
            </a:extLst>
          </p:cNvPr>
          <p:cNvSpPr txBox="1"/>
          <p:nvPr/>
        </p:nvSpPr>
        <p:spPr>
          <a:xfrm>
            <a:off x="8204200" y="5003800"/>
            <a:ext cx="358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Derived functional centres and modeled routes support path and resilience analysis.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82C35E-9770-E7CB-DD79-F91376C779CA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7B941E2-4AAE-3B8C-FE6B-13BC663FC331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8CD3AB-9E9C-6156-E127-5B354D8CDAFE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5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220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B76C1-2DF5-BCE1-F669-ADDD9CFA2A24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37487-EC9A-5AD7-8FED-99DB51EB45BF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The model keeps structure and current impact deliberately separate.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7CC12F-E42E-D44F-559D-52125404FCE0}"/>
              </a:ext>
            </a:extLst>
          </p:cNvPr>
          <p:cNvSpPr/>
          <p:nvPr/>
        </p:nvSpPr>
        <p:spPr>
          <a:xfrm>
            <a:off x="406400" y="1714500"/>
            <a:ext cx="5334000" cy="38354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99E6A7-426A-1EF9-603F-20E3EA5C2ECE}"/>
              </a:ext>
            </a:extLst>
          </p:cNvPr>
          <p:cNvSpPr/>
          <p:nvPr/>
        </p:nvSpPr>
        <p:spPr>
          <a:xfrm>
            <a:off x="711200" y="2006600"/>
            <a:ext cx="2730500" cy="330200"/>
          </a:xfrm>
          <a:prstGeom prst="roundRect">
            <a:avLst/>
          </a:prstGeom>
          <a:solidFill>
            <a:srgbClr val="F5E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C0139-E2F0-2179-2395-7C661DF8B695}"/>
              </a:ext>
            </a:extLst>
          </p:cNvPr>
          <p:cNvSpPr txBox="1"/>
          <p:nvPr/>
        </p:nvSpPr>
        <p:spPr>
          <a:xfrm>
            <a:off x="812800" y="2057400"/>
            <a:ext cx="252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>
                <a:solidFill>
                  <a:srgbClr val="111111"/>
                </a:solidFill>
                <a:latin typeface="Aptos" panose="020B0004020202020204" pitchFamily="34" charset="0"/>
              </a:rPr>
              <a:t>STRUCTURAL VULNERABILITY</a:t>
            </a:r>
            <a:endParaRPr lang="zh-CN" altLang="en-US" sz="11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0A2EF-A8FA-B031-B928-3849A63F9C1A}"/>
              </a:ext>
            </a:extLst>
          </p:cNvPr>
          <p:cNvSpPr txBox="1"/>
          <p:nvPr/>
        </p:nvSpPr>
        <p:spPr>
          <a:xfrm>
            <a:off x="711200" y="26289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500" b="1">
                <a:solidFill>
                  <a:srgbClr val="111111"/>
                </a:solidFill>
                <a:latin typeface="Aptos" panose="020B0004020202020204" pitchFamily="34" charset="0"/>
              </a:rPr>
              <a:t>What is fragile here even before today?</a:t>
            </a:r>
            <a:endParaRPr lang="zh-CN" altLang="en-US" sz="2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610A4-1296-4EA9-4259-971641ADBBC8}"/>
              </a:ext>
            </a:extLst>
          </p:cNvPr>
          <p:cNvSpPr txBox="1"/>
          <p:nvPr/>
        </p:nvSpPr>
        <p:spPr>
          <a:xfrm>
            <a:off x="711200" y="34925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>
                <a:solidFill>
                  <a:srgbClr val="666666"/>
                </a:solidFill>
                <a:latin typeface="Aptos" panose="020B0004020202020204" pitchFamily="34" charset="0"/>
              </a:rPr>
              <a:t>Graph/data:
- network influence
- geographic concentration
- policy exposure
Analyst judgment:
- substitutability
- market sensitivity</a:t>
            </a:r>
            <a:endParaRPr lang="zh-CN" altLang="en-US" sz="17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278C1E-E2A2-BDAE-8D87-FDB97D4B2C76}"/>
              </a:ext>
            </a:extLst>
          </p:cNvPr>
          <p:cNvSpPr/>
          <p:nvPr/>
        </p:nvSpPr>
        <p:spPr>
          <a:xfrm>
            <a:off x="6451600" y="1714500"/>
            <a:ext cx="5334000" cy="3835400"/>
          </a:xfrm>
          <a:prstGeom prst="roundRect">
            <a:avLst/>
          </a:prstGeom>
          <a:solidFill>
            <a:srgbClr val="0C11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8CA56E1-3526-47DA-8811-9870E2D9AC56}"/>
              </a:ext>
            </a:extLst>
          </p:cNvPr>
          <p:cNvSpPr/>
          <p:nvPr/>
        </p:nvSpPr>
        <p:spPr>
          <a:xfrm>
            <a:off x="6756400" y="2006600"/>
            <a:ext cx="2260600" cy="330200"/>
          </a:xfrm>
          <a:prstGeom prst="roundRect">
            <a:avLst/>
          </a:prstGeom>
          <a:solidFill>
            <a:srgbClr val="C98A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3924CC-8F01-329A-6AED-16329737E41B}"/>
              </a:ext>
            </a:extLst>
          </p:cNvPr>
          <p:cNvSpPr txBox="1"/>
          <p:nvPr/>
        </p:nvSpPr>
        <p:spPr>
          <a:xfrm>
            <a:off x="6858000" y="20574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>
                <a:solidFill>
                  <a:srgbClr val="0C111C"/>
                </a:solidFill>
                <a:latin typeface="Aptos" panose="020B0004020202020204" pitchFamily="34" charset="0"/>
              </a:rPr>
              <a:t>OPERATIONAL IMPACT</a:t>
            </a:r>
            <a:endParaRPr lang="zh-CN" altLang="en-US" sz="1100" b="1">
              <a:solidFill>
                <a:srgbClr val="0C111C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9E137-0098-1F54-41AF-BECC3B6CC195}"/>
              </a:ext>
            </a:extLst>
          </p:cNvPr>
          <p:cNvSpPr txBox="1"/>
          <p:nvPr/>
        </p:nvSpPr>
        <p:spPr>
          <a:xfrm>
            <a:off x="6756400" y="26289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500" b="1">
                <a:solidFill>
                  <a:srgbClr val="FFFFFF"/>
                </a:solidFill>
                <a:latin typeface="Aptos" panose="020B0004020202020204" pitchFamily="34" charset="0"/>
              </a:rPr>
              <a:t>What do selected events do now?</a:t>
            </a:r>
            <a:endParaRPr lang="zh-CN" alt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FC4C2A-F097-CF65-1C42-7244969C2FB2}"/>
              </a:ext>
            </a:extLst>
          </p:cNvPr>
          <p:cNvSpPr txBox="1"/>
          <p:nvPr/>
        </p:nvSpPr>
        <p:spPr>
          <a:xfrm>
            <a:off x="6756400" y="34925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>
                <a:solidFill>
                  <a:srgbClr val="E1D2C9"/>
                </a:solidFill>
                <a:latin typeface="Aptos" panose="020B0004020202020204" pitchFamily="34" charset="0"/>
              </a:rPr>
              <a:t>Signed shock field
- 5 is neutral
- above 5 is adverse pressure
- below 5 is mitigating
- ages against the frozen snapshot date
- scenarios are comparisons, never history</a:t>
            </a:r>
            <a:endParaRPr lang="zh-CN" altLang="en-US" sz="1700">
              <a:solidFill>
                <a:srgbClr val="E1D2C9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B7A9AD-BA0B-D53D-37B4-73F42D86DAA4}"/>
              </a:ext>
            </a:extLst>
          </p:cNvPr>
          <p:cNvSpPr txBox="1"/>
          <p:nvPr/>
        </p:nvSpPr>
        <p:spPr>
          <a:xfrm>
            <a:off x="2095500" y="58420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C98A3F"/>
                </a:solidFill>
                <a:latin typeface="Aptos" panose="020B0004020202020204" pitchFamily="34" charset="0"/>
              </a:rPr>
              <a:t>Keeping these numbers separate prevents one score from moving for two incompatible reasons.</a:t>
            </a:r>
            <a:endParaRPr lang="zh-CN" altLang="en-US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23328B-F3BA-6CB6-FB70-1FCD0600E417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2EE013-2010-6B53-B839-B7FA0E9EAE9B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7CA851-D3DE-AC67-BCA3-DC560D45F6D8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6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24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48452C-A575-64B2-B0BE-7810854F8B6C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F4409-478E-2340-B383-A2B0D6801821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Every operational score follows the same declared computation.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A8A5C7-4BBD-404B-EFE1-FC3CAF8CBB31}"/>
              </a:ext>
            </a:extLst>
          </p:cNvPr>
          <p:cNvSpPr/>
          <p:nvPr/>
        </p:nvSpPr>
        <p:spPr>
          <a:xfrm>
            <a:off x="406400" y="1854200"/>
            <a:ext cx="2082800" cy="2984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AC9FA-BCAA-1955-535A-779A0EF4F310}"/>
              </a:ext>
            </a:extLst>
          </p:cNvPr>
          <p:cNvSpPr txBox="1"/>
          <p:nvPr/>
        </p:nvSpPr>
        <p:spPr>
          <a:xfrm>
            <a:off x="609600" y="2032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C98A3F"/>
                </a:solidFill>
                <a:latin typeface="Aptos" panose="020B0004020202020204" pitchFamily="34" charset="0"/>
              </a:rPr>
              <a:t>1</a:t>
            </a:r>
            <a:endParaRPr lang="zh-CN" altLang="en-US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364D9-1A93-6E5E-98F0-998ED0C151B6}"/>
              </a:ext>
            </a:extLst>
          </p:cNvPr>
          <p:cNvSpPr txBox="1"/>
          <p:nvPr/>
        </p:nvSpPr>
        <p:spPr>
          <a:xfrm>
            <a:off x="609600" y="25654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111111"/>
                </a:solidFill>
                <a:latin typeface="Aptos" panose="020B0004020202020204" pitchFamily="34" charset="0"/>
              </a:rPr>
              <a:t>Seed</a:t>
            </a:r>
            <a:endParaRPr lang="zh-CN" altLang="en-US" sz="22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886EB-B4F9-AECD-0B59-875370D3BC66}"/>
              </a:ext>
            </a:extLst>
          </p:cNvPr>
          <p:cNvSpPr txBox="1"/>
          <p:nvPr/>
        </p:nvSpPr>
        <p:spPr>
          <a:xfrm>
            <a:off x="609600" y="32893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severity / 10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C89FC-DBBF-8568-8D68-3894CE29432F}"/>
              </a:ext>
            </a:extLst>
          </p:cNvPr>
          <p:cNvSpPr txBox="1"/>
          <p:nvPr/>
        </p:nvSpPr>
        <p:spPr>
          <a:xfrm>
            <a:off x="609600" y="38989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sign from reviewed classification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1462A4-B508-BF83-EF6E-F8B90AF8C71F}"/>
              </a:ext>
            </a:extLst>
          </p:cNvPr>
          <p:cNvCxnSpPr/>
          <p:nvPr/>
        </p:nvCxnSpPr>
        <p:spPr>
          <a:xfrm>
            <a:off x="2489200" y="3352800"/>
            <a:ext cx="2032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1062F3-7E11-9AE6-3EBC-827230CFCF6D}"/>
              </a:ext>
            </a:extLst>
          </p:cNvPr>
          <p:cNvSpPr/>
          <p:nvPr/>
        </p:nvSpPr>
        <p:spPr>
          <a:xfrm>
            <a:off x="2692400" y="1854200"/>
            <a:ext cx="2082800" cy="2984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591C2-BDBA-8059-5B01-2ADCAC1B164F}"/>
              </a:ext>
            </a:extLst>
          </p:cNvPr>
          <p:cNvSpPr txBox="1"/>
          <p:nvPr/>
        </p:nvSpPr>
        <p:spPr>
          <a:xfrm>
            <a:off x="2895600" y="2032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C98A3F"/>
                </a:solidFill>
                <a:latin typeface="Aptos" panose="020B0004020202020204" pitchFamily="34" charset="0"/>
              </a:rPr>
              <a:t>2</a:t>
            </a:r>
            <a:endParaRPr lang="zh-CN" altLang="en-US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C9AB0C-0294-CF24-7137-507D02887E66}"/>
              </a:ext>
            </a:extLst>
          </p:cNvPr>
          <p:cNvSpPr txBox="1"/>
          <p:nvPr/>
        </p:nvSpPr>
        <p:spPr>
          <a:xfrm>
            <a:off x="2895600" y="25654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111111"/>
                </a:solidFill>
                <a:latin typeface="Aptos" panose="020B0004020202020204" pitchFamily="34" charset="0"/>
              </a:rPr>
              <a:t>Age</a:t>
            </a:r>
            <a:endParaRPr lang="zh-CN" altLang="en-US" sz="22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CBA9C-8A8F-A984-41EA-4F00397B89FC}"/>
              </a:ext>
            </a:extLst>
          </p:cNvPr>
          <p:cNvSpPr txBox="1"/>
          <p:nvPr/>
        </p:nvSpPr>
        <p:spPr>
          <a:xfrm>
            <a:off x="2895600" y="32893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2^(-age / 12)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DAED5B-DDC5-B758-9154-9467A6B3B4B1}"/>
              </a:ext>
            </a:extLst>
          </p:cNvPr>
          <p:cNvSpPr txBox="1"/>
          <p:nvPr/>
        </p:nvSpPr>
        <p:spPr>
          <a:xfrm>
            <a:off x="2895600" y="38989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true 12-day half-life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AA60FA6-6793-F52B-F358-6FC87AC14428}"/>
              </a:ext>
            </a:extLst>
          </p:cNvPr>
          <p:cNvCxnSpPr/>
          <p:nvPr/>
        </p:nvCxnSpPr>
        <p:spPr>
          <a:xfrm>
            <a:off x="4775200" y="3352800"/>
            <a:ext cx="2032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5F7E66-FF91-AB14-DC18-A39843ABB91F}"/>
              </a:ext>
            </a:extLst>
          </p:cNvPr>
          <p:cNvSpPr/>
          <p:nvPr/>
        </p:nvSpPr>
        <p:spPr>
          <a:xfrm>
            <a:off x="4978400" y="1854200"/>
            <a:ext cx="2082800" cy="2984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31C6FB-0748-F080-0B63-53266B5811A4}"/>
              </a:ext>
            </a:extLst>
          </p:cNvPr>
          <p:cNvSpPr txBox="1"/>
          <p:nvPr/>
        </p:nvSpPr>
        <p:spPr>
          <a:xfrm>
            <a:off x="5181600" y="2032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C98A3F"/>
                </a:solidFill>
                <a:latin typeface="Aptos" panose="020B0004020202020204" pitchFamily="34" charset="0"/>
              </a:rPr>
              <a:t>3</a:t>
            </a:r>
            <a:endParaRPr lang="zh-CN" altLang="en-US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080EDD-C648-A23F-9888-40AEAB855138}"/>
              </a:ext>
            </a:extLst>
          </p:cNvPr>
          <p:cNvSpPr txBox="1"/>
          <p:nvPr/>
        </p:nvSpPr>
        <p:spPr>
          <a:xfrm>
            <a:off x="5181600" y="25654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111111"/>
                </a:solidFill>
                <a:latin typeface="Aptos" panose="020B0004020202020204" pitchFamily="34" charset="0"/>
              </a:rPr>
              <a:t>Propagate</a:t>
            </a:r>
            <a:endParaRPr lang="zh-CN" altLang="en-US" sz="22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3B38EA-2A6A-60D2-4AAC-AD383BD5560D}"/>
              </a:ext>
            </a:extLst>
          </p:cNvPr>
          <p:cNvSpPr txBox="1"/>
          <p:nvPr/>
        </p:nvSpPr>
        <p:spPr>
          <a:xfrm>
            <a:off x="5181600" y="32893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down 0.55 / up 0.30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CAAFE5-A42A-A3E5-757E-A4D63ED5A6C7}"/>
              </a:ext>
            </a:extLst>
          </p:cNvPr>
          <p:cNvSpPr txBox="1"/>
          <p:nvPr/>
        </p:nvSpPr>
        <p:spPr>
          <a:xfrm>
            <a:off x="5181600" y="38989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all reachable directed paths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7514A8-3456-7016-0BCE-2B78683CA227}"/>
              </a:ext>
            </a:extLst>
          </p:cNvPr>
          <p:cNvCxnSpPr/>
          <p:nvPr/>
        </p:nvCxnSpPr>
        <p:spPr>
          <a:xfrm>
            <a:off x="7061200" y="3352800"/>
            <a:ext cx="2032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6A42815-1CAD-8ADF-046B-D015065D958F}"/>
              </a:ext>
            </a:extLst>
          </p:cNvPr>
          <p:cNvSpPr/>
          <p:nvPr/>
        </p:nvSpPr>
        <p:spPr>
          <a:xfrm>
            <a:off x="7264400" y="1854200"/>
            <a:ext cx="2082800" cy="2984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98010F-6BC6-CAD5-3658-12D8029A204D}"/>
              </a:ext>
            </a:extLst>
          </p:cNvPr>
          <p:cNvSpPr txBox="1"/>
          <p:nvPr/>
        </p:nvSpPr>
        <p:spPr>
          <a:xfrm>
            <a:off x="7467600" y="2032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C98A3F"/>
                </a:solidFill>
                <a:latin typeface="Aptos" panose="020B0004020202020204" pitchFamily="34" charset="0"/>
              </a:rPr>
              <a:t>4</a:t>
            </a:r>
            <a:endParaRPr lang="zh-CN" altLang="en-US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C73643-C657-0A9A-1A58-0683B13EE233}"/>
              </a:ext>
            </a:extLst>
          </p:cNvPr>
          <p:cNvSpPr txBox="1"/>
          <p:nvPr/>
        </p:nvSpPr>
        <p:spPr>
          <a:xfrm>
            <a:off x="7467600" y="25654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111111"/>
                </a:solidFill>
                <a:latin typeface="Aptos" panose="020B0004020202020204" pitchFamily="34" charset="0"/>
              </a:rPr>
              <a:t>Combine</a:t>
            </a:r>
            <a:endParaRPr lang="zh-CN" altLang="en-US" sz="22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415E34-CDA0-A466-A787-CF7E4418195A}"/>
              </a:ext>
            </a:extLst>
          </p:cNvPr>
          <p:cNvSpPr txBox="1"/>
          <p:nvPr/>
        </p:nvSpPr>
        <p:spPr>
          <a:xfrm>
            <a:off x="7467600" y="32893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bounded noisy-OR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7A6B67-4A50-6F8F-5DF5-4551766AE9FA}"/>
              </a:ext>
            </a:extLst>
          </p:cNvPr>
          <p:cNvSpPr txBox="1"/>
          <p:nvPr/>
        </p:nvSpPr>
        <p:spPr>
          <a:xfrm>
            <a:off x="7467600" y="38989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overlap can add, never explode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046CE1-E92C-0CAF-97EB-2663D3D9BA2D}"/>
              </a:ext>
            </a:extLst>
          </p:cNvPr>
          <p:cNvCxnSpPr/>
          <p:nvPr/>
        </p:nvCxnSpPr>
        <p:spPr>
          <a:xfrm>
            <a:off x="9347200" y="3352800"/>
            <a:ext cx="2032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6B25D66-6C6F-8317-5E76-E01923B71995}"/>
              </a:ext>
            </a:extLst>
          </p:cNvPr>
          <p:cNvSpPr/>
          <p:nvPr/>
        </p:nvSpPr>
        <p:spPr>
          <a:xfrm>
            <a:off x="9550400" y="1854200"/>
            <a:ext cx="2082800" cy="2984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6DEDC1-116E-24DF-53BB-4510FCB8BEF4}"/>
              </a:ext>
            </a:extLst>
          </p:cNvPr>
          <p:cNvSpPr txBox="1"/>
          <p:nvPr/>
        </p:nvSpPr>
        <p:spPr>
          <a:xfrm>
            <a:off x="9753600" y="20320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C98A3F"/>
                </a:solidFill>
                <a:latin typeface="Aptos" panose="020B0004020202020204" pitchFamily="34" charset="0"/>
              </a:rPr>
              <a:t>5</a:t>
            </a:r>
            <a:endParaRPr lang="zh-CN" altLang="en-US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BB3770-90D1-3AAB-EA21-3BA7E81C0576}"/>
              </a:ext>
            </a:extLst>
          </p:cNvPr>
          <p:cNvSpPr txBox="1"/>
          <p:nvPr/>
        </p:nvSpPr>
        <p:spPr>
          <a:xfrm>
            <a:off x="9753600" y="25654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111111"/>
                </a:solidFill>
                <a:latin typeface="Aptos" panose="020B0004020202020204" pitchFamily="34" charset="0"/>
              </a:rPr>
              <a:t>Display</a:t>
            </a:r>
            <a:endParaRPr lang="zh-CN" altLang="en-US" sz="22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D3D607-3C13-D2CC-9DF7-59FE3D1C68BF}"/>
              </a:ext>
            </a:extLst>
          </p:cNvPr>
          <p:cNvSpPr txBox="1"/>
          <p:nvPr/>
        </p:nvSpPr>
        <p:spPr>
          <a:xfrm>
            <a:off x="9753600" y="32893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5 + signed field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09BBAF-DB7B-BBD5-2B73-1A8C0F379804}"/>
              </a:ext>
            </a:extLst>
          </p:cNvPr>
          <p:cNvSpPr txBox="1"/>
          <p:nvPr/>
        </p:nvSpPr>
        <p:spPr>
          <a:xfrm>
            <a:off x="9753600" y="38989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clamped to a 0-10 index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4D96D9-09AB-B82F-DD8C-A4CFFD009A27}"/>
              </a:ext>
            </a:extLst>
          </p:cNvPr>
          <p:cNvCxnSpPr/>
          <p:nvPr/>
        </p:nvCxnSpPr>
        <p:spPr>
          <a:xfrm>
            <a:off x="11633200" y="3352800"/>
            <a:ext cx="2032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D211017-C47D-0D31-5755-717E9ECAD256}"/>
              </a:ext>
            </a:extLst>
          </p:cNvPr>
          <p:cNvSpPr/>
          <p:nvPr/>
        </p:nvSpPr>
        <p:spPr>
          <a:xfrm>
            <a:off x="406400" y="5245100"/>
            <a:ext cx="11379200" cy="838200"/>
          </a:xfrm>
          <a:prstGeom prst="roundRect">
            <a:avLst/>
          </a:prstGeom>
          <a:solidFill>
            <a:srgbClr val="0C11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7C070F-7C06-ED4F-533D-699BFF558AFA}"/>
              </a:ext>
            </a:extLst>
          </p:cNvPr>
          <p:cNvSpPr txBox="1"/>
          <p:nvPr/>
        </p:nvSpPr>
        <p:spPr>
          <a:xfrm>
            <a:off x="660400" y="54864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Aptos" panose="020B0004020202020204" pitchFamily="34" charset="0"/>
              </a:rPr>
              <a:t>Confidence is evidence metadata. It is never multiplied into the magnitude.</a:t>
            </a:r>
            <a:endParaRPr lang="zh-CN" altLang="en-US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A798A6-BC05-D825-5EEE-E38F5F531E04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BB21B3C-AE3A-5904-7748-A72C626C394F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CD4E1D-5FF2-07A6-4FC1-9782A5A68510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7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851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B033E1-D6A6-72B4-79D1-C727723E1283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3AB9C-11D5-286E-65BD-04B3A14904B3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Topology turns the stage graph into an interactive resilience laboratory.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Screenshot-frame-topology.png">
            <a:extLst>
              <a:ext uri="{FF2B5EF4-FFF2-40B4-BE49-F238E27FC236}">
                <a16:creationId xmlns:a16="http://schemas.microsoft.com/office/drawing/2014/main" id="{E6F2EAF9-64CB-7450-BAB3-DC551FF9480B}"/>
              </a:ext>
            </a:extLst>
          </p:cNvPr>
          <p:cNvSpPr/>
          <p:nvPr/>
        </p:nvSpPr>
        <p:spPr>
          <a:xfrm>
            <a:off x="406400" y="1600200"/>
            <a:ext cx="7048500" cy="4445000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66A34-0B10-DE43-BC09-F05C8079D893}"/>
              </a:ext>
            </a:extLst>
          </p:cNvPr>
          <p:cNvSpPr txBox="1"/>
          <p:nvPr/>
        </p:nvSpPr>
        <p:spPr>
          <a:xfrm>
            <a:off x="635000" y="1828800"/>
            <a:ext cx="6591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LIVE PROJECT SCREENSHOT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3CD34-DF1D-E877-3E82-1493B02CBFDE}"/>
              </a:ext>
            </a:extLst>
          </p:cNvPr>
          <p:cNvSpPr txBox="1"/>
          <p:nvPr/>
        </p:nvSpPr>
        <p:spPr>
          <a:xfrm>
            <a:off x="7886700" y="1676400"/>
            <a:ext cx="363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C98A3F"/>
                </a:solidFill>
                <a:latin typeface="Aptos" panose="020B0004020202020204" pitchFamily="34" charset="0"/>
              </a:rPr>
              <a:t>Functional centres</a:t>
            </a:r>
            <a:endParaRPr lang="zh-CN" altLang="en-US" sz="17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C9BAC-A353-2961-AD91-BEEE80CFD0AA}"/>
              </a:ext>
            </a:extLst>
          </p:cNvPr>
          <p:cNvSpPr txBox="1"/>
          <p:nvPr/>
        </p:nvSpPr>
        <p:spPr>
          <a:xfrm>
            <a:off x="7886700" y="2044700"/>
            <a:ext cx="363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Country x production-stage nodes derived from the same vault.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E43404-307B-472F-08B3-1FDCD0555698}"/>
              </a:ext>
            </a:extLst>
          </p:cNvPr>
          <p:cNvSpPr txBox="1"/>
          <p:nvPr/>
        </p:nvSpPr>
        <p:spPr>
          <a:xfrm>
            <a:off x="7886700" y="2806700"/>
            <a:ext cx="363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C98A3F"/>
                </a:solidFill>
                <a:latin typeface="Aptos" panose="020B0004020202020204" pitchFamily="34" charset="0"/>
              </a:rPr>
              <a:t>Routes</a:t>
            </a:r>
            <a:endParaRPr lang="zh-CN" altLang="en-US" sz="17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78110-7A67-352C-749A-83A3AD789133}"/>
              </a:ext>
            </a:extLst>
          </p:cNvPr>
          <p:cNvSpPr txBox="1"/>
          <p:nvPr/>
        </p:nvSpPr>
        <p:spPr>
          <a:xfrm>
            <a:off x="7886700" y="3175000"/>
            <a:ext cx="363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Click origin and destination to expose modeled dependency paths.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D2800-6AB4-FAF8-ED57-76C8B7BA3C11}"/>
              </a:ext>
            </a:extLst>
          </p:cNvPr>
          <p:cNvSpPr txBox="1"/>
          <p:nvPr/>
        </p:nvSpPr>
        <p:spPr>
          <a:xfrm>
            <a:off x="7886700" y="3937000"/>
            <a:ext cx="363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C98A3F"/>
                </a:solidFill>
                <a:latin typeface="Aptos" panose="020B0004020202020204" pitchFamily="34" charset="0"/>
              </a:rPr>
              <a:t>Stress tests</a:t>
            </a:r>
            <a:endParaRPr lang="zh-CN" altLang="en-US" sz="17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D6FF7A-D5DE-996F-4723-D2005DD149F7}"/>
              </a:ext>
            </a:extLst>
          </p:cNvPr>
          <p:cNvSpPr txBox="1"/>
          <p:nvPr/>
        </p:nvSpPr>
        <p:spPr>
          <a:xfrm>
            <a:off x="7886700" y="4305300"/>
            <a:ext cx="363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Remove links, compare alternatives, and inspect scenario deltas.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B391F3-DBD3-993A-4380-1182E812D6D3}"/>
              </a:ext>
            </a:extLst>
          </p:cNvPr>
          <p:cNvSpPr txBox="1"/>
          <p:nvPr/>
        </p:nvSpPr>
        <p:spPr>
          <a:xfrm>
            <a:off x="7886700" y="5067300"/>
            <a:ext cx="363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C98A3F"/>
                </a:solidFill>
                <a:latin typeface="Aptos" panose="020B0004020202020204" pitchFamily="34" charset="0"/>
              </a:rPr>
              <a:t>Honest boundary</a:t>
            </a:r>
            <a:endParaRPr lang="zh-CN" altLang="en-US" sz="17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42919-A841-01E6-7479-B7DB9B59B5FB}"/>
              </a:ext>
            </a:extLst>
          </p:cNvPr>
          <p:cNvSpPr txBox="1"/>
          <p:nvPr/>
        </p:nvSpPr>
        <p:spPr>
          <a:xfrm>
            <a:off x="7886700" y="5435600"/>
            <a:ext cx="363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Connections are not trade flows, shipping lanes, or direct contracts.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E44692-EB20-1A1A-32D7-79160328778E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DC0298-299A-6674-E91E-02A4A5A6E270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947C83-9B50-3E95-D937-37C578E14999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8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273F86-D5C3-B293-D925-7EA699484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63" y="2204716"/>
            <a:ext cx="6681537" cy="35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0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8FC69A-A089-5488-D180-CF905D6E99F7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8E2AD-C18F-4A75-5364-3F20138DFA7C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Publication is a controlled evidence pipeline, not an AI autopilot.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D68F85-4491-BD68-20F8-1220A088C050}"/>
              </a:ext>
            </a:extLst>
          </p:cNvPr>
          <p:cNvSpPr/>
          <p:nvPr/>
        </p:nvSpPr>
        <p:spPr>
          <a:xfrm>
            <a:off x="304800" y="2400300"/>
            <a:ext cx="1422400" cy="12192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DE4168-CC6A-5972-FAA7-2652D3F85818}"/>
              </a:ext>
            </a:extLst>
          </p:cNvPr>
          <p:cNvSpPr txBox="1"/>
          <p:nvPr/>
        </p:nvSpPr>
        <p:spPr>
          <a:xfrm>
            <a:off x="431800" y="26035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SOURCE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D532A-93C5-7AFC-5C67-A9EA73BF48A9}"/>
              </a:ext>
            </a:extLst>
          </p:cNvPr>
          <p:cNvSpPr txBox="1"/>
          <p:nvPr/>
        </p:nvSpPr>
        <p:spPr>
          <a:xfrm>
            <a:off x="431800" y="2997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111111"/>
                </a:solidFill>
                <a:latin typeface="Aptos" panose="020B0004020202020204" pitchFamily="34" charset="0"/>
              </a:rPr>
              <a:t>USGS, rules, news</a:t>
            </a:r>
            <a:endParaRPr lang="zh-CN" altLang="en-US" sz="13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A5A726-BCB2-EB96-7D01-D517A907EBB7}"/>
              </a:ext>
            </a:extLst>
          </p:cNvPr>
          <p:cNvCxnSpPr/>
          <p:nvPr/>
        </p:nvCxnSpPr>
        <p:spPr>
          <a:xfrm>
            <a:off x="1727200" y="3009900"/>
            <a:ext cx="177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F46073-6F3D-8E29-EC4D-E23AA1D7A733}"/>
              </a:ext>
            </a:extLst>
          </p:cNvPr>
          <p:cNvSpPr/>
          <p:nvPr/>
        </p:nvSpPr>
        <p:spPr>
          <a:xfrm>
            <a:off x="1955800" y="2400300"/>
            <a:ext cx="1422400" cy="12192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FECAA-7580-8C14-2F69-4D2247176CEF}"/>
              </a:ext>
            </a:extLst>
          </p:cNvPr>
          <p:cNvSpPr txBox="1"/>
          <p:nvPr/>
        </p:nvSpPr>
        <p:spPr>
          <a:xfrm>
            <a:off x="2082800" y="26035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DEDUPE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03253-48C2-3551-974A-8686AADB02AA}"/>
              </a:ext>
            </a:extLst>
          </p:cNvPr>
          <p:cNvSpPr txBox="1"/>
          <p:nvPr/>
        </p:nvSpPr>
        <p:spPr>
          <a:xfrm>
            <a:off x="2082800" y="2997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111111"/>
                </a:solidFill>
                <a:latin typeface="Aptos" panose="020B0004020202020204" pitchFamily="34" charset="0"/>
              </a:rPr>
              <a:t>exact + near-match</a:t>
            </a:r>
            <a:endParaRPr lang="zh-CN" altLang="en-US" sz="13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BE10D1-8E3C-8BF2-9706-F9A1C31848C0}"/>
              </a:ext>
            </a:extLst>
          </p:cNvPr>
          <p:cNvCxnSpPr/>
          <p:nvPr/>
        </p:nvCxnSpPr>
        <p:spPr>
          <a:xfrm>
            <a:off x="3378200" y="3009900"/>
            <a:ext cx="177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8A13BAA-4A50-D766-1F70-19736DAF1A31}"/>
              </a:ext>
            </a:extLst>
          </p:cNvPr>
          <p:cNvSpPr/>
          <p:nvPr/>
        </p:nvSpPr>
        <p:spPr>
          <a:xfrm>
            <a:off x="3606800" y="2400300"/>
            <a:ext cx="1422400" cy="12192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530D4-0D92-3103-4ABD-800282A472B3}"/>
              </a:ext>
            </a:extLst>
          </p:cNvPr>
          <p:cNvSpPr txBox="1"/>
          <p:nvPr/>
        </p:nvSpPr>
        <p:spPr>
          <a:xfrm>
            <a:off x="3733800" y="26035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AI DRAFT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AA1313-FDE3-D751-0DEE-8C4D2B078763}"/>
              </a:ext>
            </a:extLst>
          </p:cNvPr>
          <p:cNvSpPr txBox="1"/>
          <p:nvPr/>
        </p:nvSpPr>
        <p:spPr>
          <a:xfrm>
            <a:off x="3733800" y="2997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111111"/>
                </a:solidFill>
                <a:latin typeface="Aptos" panose="020B0004020202020204" pitchFamily="34" charset="0"/>
              </a:rPr>
              <a:t>classification proposal</a:t>
            </a:r>
            <a:endParaRPr lang="zh-CN" altLang="en-US" sz="13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CBB7C1-6E05-8B22-DB6A-D7BC78F8CB71}"/>
              </a:ext>
            </a:extLst>
          </p:cNvPr>
          <p:cNvCxnSpPr/>
          <p:nvPr/>
        </p:nvCxnSpPr>
        <p:spPr>
          <a:xfrm>
            <a:off x="5029200" y="3009900"/>
            <a:ext cx="177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B06F92-E0F1-5B3B-6071-59DE22E4C3A1}"/>
              </a:ext>
            </a:extLst>
          </p:cNvPr>
          <p:cNvSpPr/>
          <p:nvPr/>
        </p:nvSpPr>
        <p:spPr>
          <a:xfrm>
            <a:off x="5257800" y="2400300"/>
            <a:ext cx="1422400" cy="12192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509AA-AC96-69C8-A923-92EB3D94594C}"/>
              </a:ext>
            </a:extLst>
          </p:cNvPr>
          <p:cNvSpPr txBox="1"/>
          <p:nvPr/>
        </p:nvSpPr>
        <p:spPr>
          <a:xfrm>
            <a:off x="5384800" y="26035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HUMAN GATE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AC4FA-FD6A-3046-7B5D-BD62A6DAD320}"/>
              </a:ext>
            </a:extLst>
          </p:cNvPr>
          <p:cNvSpPr txBox="1"/>
          <p:nvPr/>
        </p:nvSpPr>
        <p:spPr>
          <a:xfrm>
            <a:off x="5384800" y="2997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111111"/>
                </a:solidFill>
                <a:latin typeface="Aptos" panose="020B0004020202020204" pitchFamily="34" charset="0"/>
              </a:rPr>
              <a:t>approve, edit, reject</a:t>
            </a:r>
            <a:endParaRPr lang="zh-CN" altLang="en-US" sz="13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3DE05E-3E37-BC9C-00EC-63B20C92C4A9}"/>
              </a:ext>
            </a:extLst>
          </p:cNvPr>
          <p:cNvCxnSpPr/>
          <p:nvPr/>
        </p:nvCxnSpPr>
        <p:spPr>
          <a:xfrm>
            <a:off x="6680200" y="3009900"/>
            <a:ext cx="177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AA14C35-460B-C7E4-986B-A0B845D25AA1}"/>
              </a:ext>
            </a:extLst>
          </p:cNvPr>
          <p:cNvSpPr/>
          <p:nvPr/>
        </p:nvSpPr>
        <p:spPr>
          <a:xfrm>
            <a:off x="6908800" y="2400300"/>
            <a:ext cx="1422400" cy="12192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F43843-E83C-B30D-498B-C5F49D5CC6FF}"/>
              </a:ext>
            </a:extLst>
          </p:cNvPr>
          <p:cNvSpPr txBox="1"/>
          <p:nvPr/>
        </p:nvSpPr>
        <p:spPr>
          <a:xfrm>
            <a:off x="7035800" y="26035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REBUILD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6FB596-0400-64BA-E88C-CD4AAFBDFFC4}"/>
              </a:ext>
            </a:extLst>
          </p:cNvPr>
          <p:cNvSpPr txBox="1"/>
          <p:nvPr/>
        </p:nvSpPr>
        <p:spPr>
          <a:xfrm>
            <a:off x="7035800" y="2997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111111"/>
                </a:solidFill>
                <a:latin typeface="Aptos" panose="020B0004020202020204" pitchFamily="34" charset="0"/>
              </a:rPr>
              <a:t>vault + snapshot</a:t>
            </a:r>
            <a:endParaRPr lang="zh-CN" altLang="en-US" sz="13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138E72-5BB0-2B8E-B009-83447C0C1C9F}"/>
              </a:ext>
            </a:extLst>
          </p:cNvPr>
          <p:cNvCxnSpPr/>
          <p:nvPr/>
        </p:nvCxnSpPr>
        <p:spPr>
          <a:xfrm>
            <a:off x="8331200" y="3009900"/>
            <a:ext cx="177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6A57BAA-45CB-9ACD-CD3C-E27FF2972CD8}"/>
              </a:ext>
            </a:extLst>
          </p:cNvPr>
          <p:cNvSpPr/>
          <p:nvPr/>
        </p:nvSpPr>
        <p:spPr>
          <a:xfrm>
            <a:off x="8559800" y="2400300"/>
            <a:ext cx="1422400" cy="12192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12D3CA-C749-0609-083A-FE9D47FF5886}"/>
              </a:ext>
            </a:extLst>
          </p:cNvPr>
          <p:cNvSpPr txBox="1"/>
          <p:nvPr/>
        </p:nvSpPr>
        <p:spPr>
          <a:xfrm>
            <a:off x="8686800" y="26035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VERIFY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38402B-4DB1-8E21-116C-F68F741B5C3E}"/>
              </a:ext>
            </a:extLst>
          </p:cNvPr>
          <p:cNvSpPr txBox="1"/>
          <p:nvPr/>
        </p:nvSpPr>
        <p:spPr>
          <a:xfrm>
            <a:off x="8686800" y="2997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111111"/>
                </a:solidFill>
                <a:latin typeface="Aptos" panose="020B0004020202020204" pitchFamily="34" charset="0"/>
              </a:rPr>
              <a:t>audit + 185 tests</a:t>
            </a:r>
            <a:endParaRPr lang="zh-CN" altLang="en-US" sz="13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636D1C-B3F7-02A9-0630-2F46D4418C52}"/>
              </a:ext>
            </a:extLst>
          </p:cNvPr>
          <p:cNvCxnSpPr/>
          <p:nvPr/>
        </p:nvCxnSpPr>
        <p:spPr>
          <a:xfrm>
            <a:off x="9982200" y="3009900"/>
            <a:ext cx="1778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8A43395-C161-CC5A-A541-52AB48AFD969}"/>
              </a:ext>
            </a:extLst>
          </p:cNvPr>
          <p:cNvSpPr/>
          <p:nvPr/>
        </p:nvSpPr>
        <p:spPr>
          <a:xfrm>
            <a:off x="10210800" y="2400300"/>
            <a:ext cx="1422400" cy="12192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FACA39-3FA9-A55F-8624-93BFA7E9D7AB}"/>
              </a:ext>
            </a:extLst>
          </p:cNvPr>
          <p:cNvSpPr txBox="1"/>
          <p:nvPr/>
        </p:nvSpPr>
        <p:spPr>
          <a:xfrm>
            <a:off x="10337800" y="26035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PUBLISH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1B7E4A-518E-9B98-C6FA-381B8F59EDF5}"/>
              </a:ext>
            </a:extLst>
          </p:cNvPr>
          <p:cNvSpPr txBox="1"/>
          <p:nvPr/>
        </p:nvSpPr>
        <p:spPr>
          <a:xfrm>
            <a:off x="10337800" y="29972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111111"/>
                </a:solidFill>
                <a:latin typeface="Aptos" panose="020B0004020202020204" pitchFamily="34" charset="0"/>
              </a:rPr>
              <a:t>commit + Pages</a:t>
            </a:r>
            <a:endParaRPr lang="zh-CN" altLang="en-US" sz="13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CDAF748-0707-638F-E6C6-2FC71210FAC4}"/>
              </a:ext>
            </a:extLst>
          </p:cNvPr>
          <p:cNvSpPr/>
          <p:nvPr/>
        </p:nvSpPr>
        <p:spPr>
          <a:xfrm>
            <a:off x="406400" y="4191000"/>
            <a:ext cx="11379200" cy="1422400"/>
          </a:xfrm>
          <a:prstGeom prst="roundRect">
            <a:avLst/>
          </a:prstGeom>
          <a:solidFill>
            <a:srgbClr val="0C11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5876F3-D408-04D4-C116-C090D9DD3B72}"/>
              </a:ext>
            </a:extLst>
          </p:cNvPr>
          <p:cNvSpPr txBox="1"/>
          <p:nvPr/>
        </p:nvSpPr>
        <p:spPr>
          <a:xfrm>
            <a:off x="660400" y="4445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C98A3F"/>
                </a:solidFill>
                <a:latin typeface="Aptos" panose="020B0004020202020204" pitchFamily="34" charset="0"/>
              </a:rPr>
              <a:t>Authority boundary</a:t>
            </a:r>
            <a:endParaRPr lang="zh-CN" altLang="en-US" sz="15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EA263C-FABD-A56D-5575-04F2B5BA67E6}"/>
              </a:ext>
            </a:extLst>
          </p:cNvPr>
          <p:cNvSpPr txBox="1"/>
          <p:nvPr/>
        </p:nvSpPr>
        <p:spPr>
          <a:xfrm>
            <a:off x="660400" y="4902200"/>
            <a:ext cx="1061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FFFFFF"/>
                </a:solidFill>
                <a:latin typeface="Aptos" panose="020B0004020202020204" pitchFamily="34" charset="0"/>
              </a:rPr>
              <a:t>AI may draft a proposal. Only a human decision can admit an event to the vault, and only a passing audit/test gate can publish it.</a:t>
            </a:r>
            <a:endParaRPr lang="zh-CN" altLang="en-US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74B11C-B97C-8349-9384-D4D850F0DC7B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BBE8856-0BA8-DB19-EEBA-38744C153937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923840-254B-CDD3-6E88-9ECB56787F2F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9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339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3C1456-319A-9848-E967-C78C98A344BA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2A33B8-DCC6-D011-3D67-4F2B0533A610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The review dashboard preserves both accepted and rejected evidence.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Screenshot-frame-admin-history.png">
            <a:extLst>
              <a:ext uri="{FF2B5EF4-FFF2-40B4-BE49-F238E27FC236}">
                <a16:creationId xmlns:a16="http://schemas.microsoft.com/office/drawing/2014/main" id="{42FB22D6-9D2D-1291-13F0-6189F9EA6FDE}"/>
              </a:ext>
            </a:extLst>
          </p:cNvPr>
          <p:cNvSpPr/>
          <p:nvPr/>
        </p:nvSpPr>
        <p:spPr>
          <a:xfrm>
            <a:off x="406400" y="1625600"/>
            <a:ext cx="7493000" cy="4419600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B4561-2422-332F-17C8-6E926EB9AEFF}"/>
              </a:ext>
            </a:extLst>
          </p:cNvPr>
          <p:cNvSpPr txBox="1"/>
          <p:nvPr/>
        </p:nvSpPr>
        <p:spPr>
          <a:xfrm>
            <a:off x="635000" y="1854200"/>
            <a:ext cx="703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LIVE PROJECT SCREENSHOT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98A49-6055-1B98-5A25-DA8AAEFF2044}"/>
              </a:ext>
            </a:extLst>
          </p:cNvPr>
          <p:cNvSpPr txBox="1"/>
          <p:nvPr/>
        </p:nvSpPr>
        <p:spPr>
          <a:xfrm>
            <a:off x="635000" y="5511800"/>
            <a:ext cx="703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666666"/>
                </a:solidFill>
                <a:latin typeface="Aptos" panose="020B0004020202020204" pitchFamily="34" charset="0"/>
              </a:rPr>
              <a:t>Capture required: admin-history.png</a:t>
            </a:r>
            <a:endParaRPr lang="zh-CN" altLang="en-US" sz="11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B85CA8-4D97-54FF-8731-7F4473759C96}"/>
              </a:ext>
            </a:extLst>
          </p:cNvPr>
          <p:cNvSpPr/>
          <p:nvPr/>
        </p:nvSpPr>
        <p:spPr>
          <a:xfrm>
            <a:off x="8255000" y="1625600"/>
            <a:ext cx="1600200" cy="12446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BFF540-76FF-61F7-F4CC-0C5334ADD4B3}"/>
              </a:ext>
            </a:extLst>
          </p:cNvPr>
          <p:cNvSpPr txBox="1"/>
          <p:nvPr/>
        </p:nvSpPr>
        <p:spPr>
          <a:xfrm>
            <a:off x="8458200" y="1816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 b="1">
                <a:solidFill>
                  <a:srgbClr val="111111"/>
                </a:solidFill>
                <a:latin typeface="Aptos" panose="020B0004020202020204" pitchFamily="34" charset="0"/>
              </a:rPr>
              <a:t>12</a:t>
            </a:r>
            <a:endParaRPr lang="zh-CN" altLang="en-US" sz="31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A4D6B-937B-67E6-97F9-05A8B4276C35}"/>
              </a:ext>
            </a:extLst>
          </p:cNvPr>
          <p:cNvSpPr txBox="1"/>
          <p:nvPr/>
        </p:nvSpPr>
        <p:spPr>
          <a:xfrm>
            <a:off x="8458200" y="25908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666666"/>
                </a:solidFill>
                <a:latin typeface="Aptos" panose="020B0004020202020204" pitchFamily="34" charset="0"/>
              </a:rPr>
              <a:t>approved candidates</a:t>
            </a:r>
            <a:endParaRPr lang="zh-CN" altLang="en-US" sz="13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AEFEE0-CDBD-0E4E-6C3C-A54337B19567}"/>
              </a:ext>
            </a:extLst>
          </p:cNvPr>
          <p:cNvSpPr/>
          <p:nvPr/>
        </p:nvSpPr>
        <p:spPr>
          <a:xfrm>
            <a:off x="10185400" y="1625600"/>
            <a:ext cx="1600200" cy="12446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EE997-1681-02C6-5EA1-22E182DEDD98}"/>
              </a:ext>
            </a:extLst>
          </p:cNvPr>
          <p:cNvSpPr txBox="1"/>
          <p:nvPr/>
        </p:nvSpPr>
        <p:spPr>
          <a:xfrm>
            <a:off x="10388600" y="1816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 b="1">
                <a:solidFill>
                  <a:srgbClr val="111111"/>
                </a:solidFill>
                <a:latin typeface="Aptos" panose="020B0004020202020204" pitchFamily="34" charset="0"/>
              </a:rPr>
              <a:t>16</a:t>
            </a:r>
            <a:endParaRPr lang="zh-CN" altLang="en-US" sz="31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D0B410-66CA-A999-2DBF-66D340C39AAE}"/>
              </a:ext>
            </a:extLst>
          </p:cNvPr>
          <p:cNvSpPr txBox="1"/>
          <p:nvPr/>
        </p:nvSpPr>
        <p:spPr>
          <a:xfrm>
            <a:off x="10388600" y="25908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666666"/>
                </a:solidFill>
                <a:latin typeface="Aptos" panose="020B0004020202020204" pitchFamily="34" charset="0"/>
              </a:rPr>
              <a:t>rejected candidates</a:t>
            </a:r>
            <a:endParaRPr lang="zh-CN" altLang="en-US" sz="13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6B3F73-5FBA-C350-2C68-EE1BC2D63AF5}"/>
              </a:ext>
            </a:extLst>
          </p:cNvPr>
          <p:cNvSpPr/>
          <p:nvPr/>
        </p:nvSpPr>
        <p:spPr>
          <a:xfrm>
            <a:off x="8255000" y="3149600"/>
            <a:ext cx="1600200" cy="12446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646DE9-93F6-E3BA-014B-9275E0BA0A7E}"/>
              </a:ext>
            </a:extLst>
          </p:cNvPr>
          <p:cNvSpPr txBox="1"/>
          <p:nvPr/>
        </p:nvSpPr>
        <p:spPr>
          <a:xfrm>
            <a:off x="8458200" y="3340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 b="1">
                <a:solidFill>
                  <a:srgbClr val="111111"/>
                </a:solidFill>
                <a:latin typeface="Aptos" panose="020B0004020202020204" pitchFamily="34" charset="0"/>
              </a:rPr>
              <a:t>0</a:t>
            </a:r>
            <a:endParaRPr lang="zh-CN" altLang="en-US" sz="31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DB154C-170E-EC2D-E7BE-5CCAD2F37C70}"/>
              </a:ext>
            </a:extLst>
          </p:cNvPr>
          <p:cNvSpPr txBox="1"/>
          <p:nvPr/>
        </p:nvSpPr>
        <p:spPr>
          <a:xfrm>
            <a:off x="8458200" y="41148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666666"/>
                </a:solidFill>
                <a:latin typeface="Aptos" panose="020B0004020202020204" pitchFamily="34" charset="0"/>
              </a:rPr>
              <a:t>pending review</a:t>
            </a:r>
            <a:endParaRPr lang="zh-CN" altLang="en-US" sz="13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876A84-83C3-9E45-13F8-00B51E54818A}"/>
              </a:ext>
            </a:extLst>
          </p:cNvPr>
          <p:cNvSpPr/>
          <p:nvPr/>
        </p:nvSpPr>
        <p:spPr>
          <a:xfrm>
            <a:off x="10185400" y="3149600"/>
            <a:ext cx="1600200" cy="12446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C15DCC-35C6-918F-EB30-26D460919625}"/>
              </a:ext>
            </a:extLst>
          </p:cNvPr>
          <p:cNvSpPr txBox="1"/>
          <p:nvPr/>
        </p:nvSpPr>
        <p:spPr>
          <a:xfrm>
            <a:off x="10388600" y="33401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100" b="1">
                <a:solidFill>
                  <a:srgbClr val="111111"/>
                </a:solidFill>
                <a:latin typeface="Aptos" panose="020B0004020202020204" pitchFamily="34" charset="0"/>
              </a:rPr>
              <a:t>0</a:t>
            </a:r>
            <a:endParaRPr lang="zh-CN" altLang="en-US" sz="31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C19330-3E53-B850-A853-F0ADC4090D7A}"/>
              </a:ext>
            </a:extLst>
          </p:cNvPr>
          <p:cNvSpPr txBox="1"/>
          <p:nvPr/>
        </p:nvSpPr>
        <p:spPr>
          <a:xfrm>
            <a:off x="10388600" y="41148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666666"/>
                </a:solidFill>
                <a:latin typeface="Aptos" panose="020B0004020202020204" pitchFamily="34" charset="0"/>
              </a:rPr>
              <a:t>unpublished decisions</a:t>
            </a:r>
            <a:endParaRPr lang="zh-CN" altLang="en-US" sz="13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006F31-AC75-B461-309D-D36F3FD976AA}"/>
              </a:ext>
            </a:extLst>
          </p:cNvPr>
          <p:cNvSpPr txBox="1"/>
          <p:nvPr/>
        </p:nvSpPr>
        <p:spPr>
          <a:xfrm>
            <a:off x="8255000" y="4813300"/>
            <a:ext cx="353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Each record retains the original URL, raw source payload, AI proposal, reviewer decision, timestamp, and duplicate flags.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A4F893-ED3F-6072-4748-D19D52B74C6B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8563F40-83A1-790D-E6B2-F482ADBAACDD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2A1E3C-5299-AC2E-B664-93BD86A16075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10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59FD5DB-BA5C-87C9-7B57-5C9DFE43E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62" y="2093099"/>
            <a:ext cx="6268453" cy="309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43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44E780-3D72-35A4-A71E-32639BD48CF2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AB5B3-8FC3-03AC-BA13-2F0702052D57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History stays useful even when the local API is offline.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Screenshot-frame-briefing-archive.png">
            <a:extLst>
              <a:ext uri="{FF2B5EF4-FFF2-40B4-BE49-F238E27FC236}">
                <a16:creationId xmlns:a16="http://schemas.microsoft.com/office/drawing/2014/main" id="{51BF35B4-7D4D-401E-C30B-6F3FD6E2887C}"/>
              </a:ext>
            </a:extLst>
          </p:cNvPr>
          <p:cNvSpPr/>
          <p:nvPr/>
        </p:nvSpPr>
        <p:spPr>
          <a:xfrm>
            <a:off x="406400" y="1625600"/>
            <a:ext cx="6159500" cy="4394200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77172-D3D5-62BA-524C-F3A282A3CDDA}"/>
              </a:ext>
            </a:extLst>
          </p:cNvPr>
          <p:cNvSpPr txBox="1"/>
          <p:nvPr/>
        </p:nvSpPr>
        <p:spPr>
          <a:xfrm>
            <a:off x="635000" y="1854200"/>
            <a:ext cx="570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LIVE PROJECT SCREENSHOT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4434A-8A7C-3E33-6E19-8AD1E7811D49}"/>
              </a:ext>
            </a:extLst>
          </p:cNvPr>
          <p:cNvSpPr txBox="1"/>
          <p:nvPr/>
        </p:nvSpPr>
        <p:spPr>
          <a:xfrm>
            <a:off x="7073900" y="1651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COMPUTED CHAIN-INDEX HISTORY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E221B-30D3-640E-5448-EECD360164EB}"/>
              </a:ext>
            </a:extLst>
          </p:cNvPr>
          <p:cNvSpPr txBox="1"/>
          <p:nvPr/>
        </p:nvSpPr>
        <p:spPr>
          <a:xfrm>
            <a:off x="7073900" y="20574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111111"/>
                </a:solidFill>
                <a:latin typeface="Aptos" panose="020B0004020202020204" pitchFamily="34" charset="0"/>
              </a:rPr>
              <a:t>3 days  |  7 days  |  30 days  |  6 months  |  1 year  |  5 years  |  all time</a:t>
            </a:r>
            <a:endParaRPr lang="zh-CN" altLang="en-US" sz="17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C9A71B-9CE8-CEE1-120A-C6C766041F21}"/>
              </a:ext>
            </a:extLst>
          </p:cNvPr>
          <p:cNvCxnSpPr/>
          <p:nvPr/>
        </p:nvCxnSpPr>
        <p:spPr>
          <a:xfrm>
            <a:off x="7073900" y="3111500"/>
            <a:ext cx="4318000" cy="0"/>
          </a:xfrm>
          <a:prstGeom prst="straightConnector1">
            <a:avLst/>
          </a:prstGeom>
          <a:ln w="381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980F74-E80D-1EF5-27F8-3252E877FC2D}"/>
              </a:ext>
            </a:extLst>
          </p:cNvPr>
          <p:cNvCxnSpPr/>
          <p:nvPr/>
        </p:nvCxnSpPr>
        <p:spPr>
          <a:xfrm flipV="1">
            <a:off x="7073900" y="2908300"/>
            <a:ext cx="990600" cy="203200"/>
          </a:xfrm>
          <a:prstGeom prst="straightConnector1">
            <a:avLst/>
          </a:prstGeom>
          <a:ln w="50800">
            <a:solidFill>
              <a:srgbClr val="C98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AA6DDC-6F5B-8EE8-89F8-D1C7E43817C8}"/>
              </a:ext>
            </a:extLst>
          </p:cNvPr>
          <p:cNvCxnSpPr/>
          <p:nvPr/>
        </p:nvCxnSpPr>
        <p:spPr>
          <a:xfrm>
            <a:off x="8064500" y="2908300"/>
            <a:ext cx="952500" cy="292100"/>
          </a:xfrm>
          <a:prstGeom prst="straightConnector1">
            <a:avLst/>
          </a:prstGeom>
          <a:ln w="50800">
            <a:solidFill>
              <a:srgbClr val="C98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76D8F8-1FA0-282F-82E3-E0FCCC84A673}"/>
              </a:ext>
            </a:extLst>
          </p:cNvPr>
          <p:cNvCxnSpPr/>
          <p:nvPr/>
        </p:nvCxnSpPr>
        <p:spPr>
          <a:xfrm flipV="1">
            <a:off x="9017000" y="2755900"/>
            <a:ext cx="1016000" cy="444500"/>
          </a:xfrm>
          <a:prstGeom prst="straightConnector1">
            <a:avLst/>
          </a:prstGeom>
          <a:ln w="50800">
            <a:solidFill>
              <a:srgbClr val="C98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DD1A03-44CE-ECC0-8EB5-6C3BC3823B13}"/>
              </a:ext>
            </a:extLst>
          </p:cNvPr>
          <p:cNvCxnSpPr/>
          <p:nvPr/>
        </p:nvCxnSpPr>
        <p:spPr>
          <a:xfrm>
            <a:off x="10033000" y="2755900"/>
            <a:ext cx="1358900" cy="190500"/>
          </a:xfrm>
          <a:prstGeom prst="straightConnector1">
            <a:avLst/>
          </a:prstGeom>
          <a:ln w="50800">
            <a:solidFill>
              <a:srgbClr val="C98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C68539-DF39-C02B-25E8-31AD7224A715}"/>
              </a:ext>
            </a:extLst>
          </p:cNvPr>
          <p:cNvSpPr txBox="1"/>
          <p:nvPr/>
        </p:nvSpPr>
        <p:spPr>
          <a:xfrm>
            <a:off x="7073900" y="3479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800" b="1">
                <a:solidFill>
                  <a:srgbClr val="111111"/>
                </a:solidFill>
                <a:latin typeface="Aptos" panose="020B0004020202020204" pitchFamily="34" charset="0"/>
              </a:rPr>
              <a:t>7.56</a:t>
            </a:r>
            <a:endParaRPr lang="zh-CN" altLang="en-US" sz="38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BA3CBD-95F5-4537-7BDF-B0279A7706E9}"/>
              </a:ext>
            </a:extLst>
          </p:cNvPr>
          <p:cNvSpPr txBox="1"/>
          <p:nvPr/>
        </p:nvSpPr>
        <p:spPr>
          <a:xfrm>
            <a:off x="8763000" y="3581400"/>
            <a:ext cx="2628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archived baseline chain index on 2026-07-29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818780-BA90-E1A9-6838-6769699E4677}"/>
              </a:ext>
            </a:extLst>
          </p:cNvPr>
          <p:cNvSpPr/>
          <p:nvPr/>
        </p:nvSpPr>
        <p:spPr>
          <a:xfrm>
            <a:off x="7073900" y="4521200"/>
            <a:ext cx="4318000" cy="1586832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B3BEF-24DE-E4F4-47AB-D412C406AE31}"/>
              </a:ext>
            </a:extLst>
          </p:cNvPr>
          <p:cNvSpPr txBox="1"/>
          <p:nvPr/>
        </p:nvSpPr>
        <p:spPr>
          <a:xfrm>
            <a:off x="7327900" y="4749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C98A3F"/>
                </a:solidFill>
                <a:latin typeface="Aptos" panose="020B0004020202020204" pitchFamily="34" charset="0"/>
              </a:rPr>
              <a:t>Resilient publication</a:t>
            </a:r>
            <a:endParaRPr lang="zh-CN" altLang="en-US" sz="16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1CD7C1-114B-F92D-D147-2D0D17A31F8B}"/>
              </a:ext>
            </a:extLst>
          </p:cNvPr>
          <p:cNvSpPr txBox="1"/>
          <p:nvPr/>
        </p:nvSpPr>
        <p:spPr>
          <a:xfrm>
            <a:off x="7327900" y="5207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 dirty="0">
                <a:solidFill>
                  <a:srgbClr val="111111"/>
                </a:solidFill>
                <a:latin typeface="Aptos" panose="020B0004020202020204" pitchFamily="34" charset="0"/>
              </a:rPr>
              <a:t>GitHub Pages keeps serving the last audited snapshot when the PC, tunnel, or API is unavailable.</a:t>
            </a:r>
            <a:endParaRPr lang="zh-CN" altLang="en-US" sz="1600" b="1" dirty="0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A1601C-1293-7EEC-5E15-4A375BF1826C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360760F-9EDC-19E5-499F-6DEFBFAE4937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B52F1-AB6A-B7D3-2BE6-D2DDCDE78F2D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11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0F7942C-C684-BA97-F2E3-F8440E18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29" y="2418466"/>
            <a:ext cx="6086721" cy="277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51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28C5B7-2B1A-997C-C279-18A704DC17EB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1EBF3-DCAA-D4A7-1D0C-3037A491C592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A hybrid architecture separates public availability from private write authority.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0AA944-947F-CFD0-C6DD-0B76039CCB42}"/>
              </a:ext>
            </a:extLst>
          </p:cNvPr>
          <p:cNvSpPr/>
          <p:nvPr/>
        </p:nvSpPr>
        <p:spPr>
          <a:xfrm>
            <a:off x="406400" y="2501900"/>
            <a:ext cx="1905000" cy="14224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84E0A-AA5D-FA62-9BF9-E21C60FCB978}"/>
              </a:ext>
            </a:extLst>
          </p:cNvPr>
          <p:cNvSpPr txBox="1"/>
          <p:nvPr/>
        </p:nvSpPr>
        <p:spPr>
          <a:xfrm>
            <a:off x="558800" y="2730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PUBLIC BROWSER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915669-40E6-D01A-7ABD-8018CE9711E7}"/>
              </a:ext>
            </a:extLst>
          </p:cNvPr>
          <p:cNvSpPr txBox="1"/>
          <p:nvPr/>
        </p:nvSpPr>
        <p:spPr>
          <a:xfrm>
            <a:off x="558800" y="31496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React / Vite UI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F5893F-9D8A-7C0A-CD03-4FD1C4E82FD0}"/>
              </a:ext>
            </a:extLst>
          </p:cNvPr>
          <p:cNvSpPr/>
          <p:nvPr/>
        </p:nvSpPr>
        <p:spPr>
          <a:xfrm>
            <a:off x="3022600" y="2501900"/>
            <a:ext cx="1905000" cy="14224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DD362-FEDD-A358-0644-09120EA84EF8}"/>
              </a:ext>
            </a:extLst>
          </p:cNvPr>
          <p:cNvSpPr txBox="1"/>
          <p:nvPr/>
        </p:nvSpPr>
        <p:spPr>
          <a:xfrm>
            <a:off x="3175000" y="2730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GITHUB PAGES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8E66B-C375-73A9-4E00-BC246C9B132C}"/>
              </a:ext>
            </a:extLst>
          </p:cNvPr>
          <p:cNvSpPr txBox="1"/>
          <p:nvPr/>
        </p:nvSpPr>
        <p:spPr>
          <a:xfrm>
            <a:off x="3175000" y="31496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versioned static snapshot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A5D06C-828B-81A4-C7A9-DFD8AFB87EF6}"/>
              </a:ext>
            </a:extLst>
          </p:cNvPr>
          <p:cNvSpPr/>
          <p:nvPr/>
        </p:nvSpPr>
        <p:spPr>
          <a:xfrm>
            <a:off x="5638800" y="2501900"/>
            <a:ext cx="1905000" cy="1422400"/>
          </a:xfrm>
          <a:prstGeom prst="roundRect">
            <a:avLst/>
          </a:prstGeom>
          <a:solidFill>
            <a:srgbClr val="F5E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F7804-99D5-01B1-F637-BF7B7108586F}"/>
              </a:ext>
            </a:extLst>
          </p:cNvPr>
          <p:cNvSpPr txBox="1"/>
          <p:nvPr/>
        </p:nvSpPr>
        <p:spPr>
          <a:xfrm>
            <a:off x="5791200" y="2730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CLOUDFLARE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667687-35BC-10D7-DDEA-4177AC31B31E}"/>
              </a:ext>
            </a:extLst>
          </p:cNvPr>
          <p:cNvSpPr txBox="1"/>
          <p:nvPr/>
        </p:nvSpPr>
        <p:spPr>
          <a:xfrm>
            <a:off x="5791200" y="31496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HTTPS tunnel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1BE25E-5624-3A8D-F70A-7D9EF3D5E248}"/>
              </a:ext>
            </a:extLst>
          </p:cNvPr>
          <p:cNvSpPr/>
          <p:nvPr/>
        </p:nvSpPr>
        <p:spPr>
          <a:xfrm>
            <a:off x="8255000" y="2501900"/>
            <a:ext cx="1905000" cy="14224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2663C5-CD8B-E4A7-82F3-672DA9F8D318}"/>
              </a:ext>
            </a:extLst>
          </p:cNvPr>
          <p:cNvSpPr txBox="1"/>
          <p:nvPr/>
        </p:nvSpPr>
        <p:spPr>
          <a:xfrm>
            <a:off x="8407400" y="2730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LOCAL API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D208F3-3C62-CB7B-BCA6-2D7BA55F4488}"/>
              </a:ext>
            </a:extLst>
          </p:cNvPr>
          <p:cNvSpPr txBox="1"/>
          <p:nvPr/>
        </p:nvSpPr>
        <p:spPr>
          <a:xfrm>
            <a:off x="8407400" y="31496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Express on :8787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6DD0BC7-E67B-D525-B6C1-74E261E54248}"/>
              </a:ext>
            </a:extLst>
          </p:cNvPr>
          <p:cNvSpPr/>
          <p:nvPr/>
        </p:nvSpPr>
        <p:spPr>
          <a:xfrm>
            <a:off x="10236200" y="2501900"/>
            <a:ext cx="1905000" cy="1422400"/>
          </a:xfrm>
          <a:prstGeom prst="roundRect">
            <a:avLst/>
          </a:prstGeom>
          <a:solidFill>
            <a:srgbClr val="0C11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8790C-B830-109E-71CB-F0A85894E82F}"/>
              </a:ext>
            </a:extLst>
          </p:cNvPr>
          <p:cNvSpPr txBox="1"/>
          <p:nvPr/>
        </p:nvSpPr>
        <p:spPr>
          <a:xfrm>
            <a:off x="10388600" y="27305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VAULT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8CB1F6-2361-3F09-84BF-1D9CEEEECF38}"/>
              </a:ext>
            </a:extLst>
          </p:cNvPr>
          <p:cNvSpPr txBox="1"/>
          <p:nvPr/>
        </p:nvSpPr>
        <p:spPr>
          <a:xfrm>
            <a:off x="10388600" y="31496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Aptos" panose="020B0004020202020204" pitchFamily="34" charset="0"/>
              </a:rPr>
              <a:t>SQLite + review queue</a:t>
            </a:r>
            <a:endParaRPr lang="zh-CN" altLang="en-US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CD67D9-2F02-43BC-0E29-2943D5572F1E}"/>
              </a:ext>
            </a:extLst>
          </p:cNvPr>
          <p:cNvCxnSpPr/>
          <p:nvPr/>
        </p:nvCxnSpPr>
        <p:spPr>
          <a:xfrm>
            <a:off x="2311400" y="3213100"/>
            <a:ext cx="6350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F45AFC-4556-C66F-F8BA-64CB7DF9040D}"/>
              </a:ext>
            </a:extLst>
          </p:cNvPr>
          <p:cNvCxnSpPr/>
          <p:nvPr/>
        </p:nvCxnSpPr>
        <p:spPr>
          <a:xfrm>
            <a:off x="4927600" y="3213100"/>
            <a:ext cx="6350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DC663A-2524-039E-8BF7-DECAE12C0A05}"/>
              </a:ext>
            </a:extLst>
          </p:cNvPr>
          <p:cNvCxnSpPr/>
          <p:nvPr/>
        </p:nvCxnSpPr>
        <p:spPr>
          <a:xfrm>
            <a:off x="7543800" y="3213100"/>
            <a:ext cx="6350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A16D6B-02EE-66D6-43FF-6A5056E2E5B3}"/>
              </a:ext>
            </a:extLst>
          </p:cNvPr>
          <p:cNvCxnSpPr/>
          <p:nvPr/>
        </p:nvCxnSpPr>
        <p:spPr>
          <a:xfrm>
            <a:off x="10160000" y="3213100"/>
            <a:ext cx="76200" cy="0"/>
          </a:xfrm>
          <a:prstGeom prst="straightConnector1">
            <a:avLst/>
          </a:prstGeom>
          <a:ln w="25400">
            <a:solidFill>
              <a:srgbClr val="C98A3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28FEA39-AB6B-B223-038C-87EAC029309F}"/>
              </a:ext>
            </a:extLst>
          </p:cNvPr>
          <p:cNvSpPr txBox="1"/>
          <p:nvPr/>
        </p:nvSpPr>
        <p:spPr>
          <a:xfrm>
            <a:off x="406400" y="19431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FA97F"/>
                </a:solidFill>
                <a:latin typeface="Aptos" panose="020B0004020202020204" pitchFamily="34" charset="0"/>
              </a:rPr>
              <a:t>READ PATH</a:t>
            </a:r>
            <a:endParaRPr lang="zh-CN" altLang="en-US" sz="1200" b="1">
              <a:solidFill>
                <a:srgbClr val="4FA97F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E62BA3-78CB-F604-F51A-7184DFF0E02A}"/>
              </a:ext>
            </a:extLst>
          </p:cNvPr>
          <p:cNvSpPr txBox="1"/>
          <p:nvPr/>
        </p:nvSpPr>
        <p:spPr>
          <a:xfrm>
            <a:off x="10236200" y="19431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200" b="1">
                <a:solidFill>
                  <a:srgbClr val="E25C4A"/>
                </a:solidFill>
                <a:latin typeface="Aptos" panose="020B0004020202020204" pitchFamily="34" charset="0"/>
              </a:rPr>
              <a:t>WRITE PATH</a:t>
            </a:r>
            <a:endParaRPr lang="zh-CN" altLang="en-US" sz="1200" b="1">
              <a:solidFill>
                <a:srgbClr val="E25C4A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9F540F1-9257-FA75-1D81-83FF517CC016}"/>
              </a:ext>
            </a:extLst>
          </p:cNvPr>
          <p:cNvSpPr/>
          <p:nvPr/>
        </p:nvSpPr>
        <p:spPr>
          <a:xfrm>
            <a:off x="406400" y="4521200"/>
            <a:ext cx="11379200" cy="12700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24899-DF00-056F-15A5-AB0253E805B0}"/>
              </a:ext>
            </a:extLst>
          </p:cNvPr>
          <p:cNvSpPr txBox="1"/>
          <p:nvPr/>
        </p:nvSpPr>
        <p:spPr>
          <a:xfrm>
            <a:off x="660400" y="47498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 b="1">
                <a:solidFill>
                  <a:srgbClr val="C98A3F"/>
                </a:solidFill>
                <a:latin typeface="Aptos" panose="020B0004020202020204" pitchFamily="34" charset="0"/>
              </a:rPr>
              <a:t>Scheduled writer</a:t>
            </a:r>
            <a:endParaRPr lang="zh-CN" altLang="en-US" sz="15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3EEE90-04EF-EFAC-FB48-BF390B52EDA1}"/>
              </a:ext>
            </a:extLst>
          </p:cNvPr>
          <p:cNvSpPr txBox="1"/>
          <p:nvPr/>
        </p:nvSpPr>
        <p:spPr>
          <a:xfrm>
            <a:off x="660400" y="5168900"/>
            <a:ext cx="1061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111111"/>
                </a:solidFill>
                <a:latin typeface="Aptos" panose="020B0004020202020204" pitchFamily="34" charset="0"/>
              </a:rPr>
              <a:t>The daily local pipeline fetches, deduplicates, drafts, ages events, refreshes quotes, exports, archives, verifies, commits, and pushes. No public browser can write directly to GitHub.</a:t>
            </a:r>
            <a:endParaRPr lang="zh-CN" altLang="en-US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AAB13E-B198-9E4F-94DA-8BDC55A96B36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1256651-958A-0CBE-85FC-4ADE63FFB5E8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E5CB3A-F2CC-93DC-EA81-2AF8123D6845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12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539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BFCD26-577F-3B4B-4C66-8611292FEC57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EC89B-9BC9-295E-7228-E564BEB2A7FE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Transparency is the trust model.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3D8B29-BB5E-B195-0F45-34E22DDB6168}"/>
              </a:ext>
            </a:extLst>
          </p:cNvPr>
          <p:cNvSpPr/>
          <p:nvPr/>
        </p:nvSpPr>
        <p:spPr>
          <a:xfrm>
            <a:off x="406400" y="1714500"/>
            <a:ext cx="1955800" cy="838200"/>
          </a:xfrm>
          <a:prstGeom prst="roundRect">
            <a:avLst/>
          </a:prstGeom>
          <a:solidFill>
            <a:srgbClr val="0C11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ED1B4-5665-9D6B-B2A2-861F8A8C4A75}"/>
              </a:ext>
            </a:extLst>
          </p:cNvPr>
          <p:cNvSpPr txBox="1"/>
          <p:nvPr/>
        </p:nvSpPr>
        <p:spPr>
          <a:xfrm>
            <a:off x="609600" y="19304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900" b="1">
                <a:solidFill>
                  <a:srgbClr val="C98A3F"/>
                </a:solidFill>
                <a:latin typeface="Aptos" panose="020B0004020202020204" pitchFamily="34" charset="0"/>
              </a:rPr>
              <a:t>A / B / C</a:t>
            </a:r>
            <a:endParaRPr lang="zh-CN" altLang="en-US" sz="19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431BF4-FD1C-42F3-6FB6-144964ED789C}"/>
              </a:ext>
            </a:extLst>
          </p:cNvPr>
          <p:cNvSpPr txBox="1"/>
          <p:nvPr/>
        </p:nvSpPr>
        <p:spPr>
          <a:xfrm>
            <a:off x="2692400" y="18288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111"/>
                </a:solidFill>
                <a:latin typeface="Aptos" panose="020B0004020202020204" pitchFamily="34" charset="0"/>
              </a:rPr>
              <a:t>peer-reviewed, institutional, and official primary evidence</a:t>
            </a:r>
            <a:endParaRPr lang="zh-CN" altLang="en-US" sz="1600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66FA6A-6948-F4CE-DC5F-576B7757CCF2}"/>
              </a:ext>
            </a:extLst>
          </p:cNvPr>
          <p:cNvSpPr/>
          <p:nvPr/>
        </p:nvSpPr>
        <p:spPr>
          <a:xfrm>
            <a:off x="406400" y="2781300"/>
            <a:ext cx="1955800" cy="838200"/>
          </a:xfrm>
          <a:prstGeom prst="roundRect">
            <a:avLst/>
          </a:prstGeom>
          <a:solidFill>
            <a:srgbClr val="0C11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1A0AF-92E6-28A7-836A-425E4C799138}"/>
              </a:ext>
            </a:extLst>
          </p:cNvPr>
          <p:cNvSpPr txBox="1"/>
          <p:nvPr/>
        </p:nvSpPr>
        <p:spPr>
          <a:xfrm>
            <a:off x="609600" y="29972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900" b="1">
                <a:solidFill>
                  <a:srgbClr val="C98A3F"/>
                </a:solidFill>
                <a:latin typeface="Aptos" panose="020B0004020202020204" pitchFamily="34" charset="0"/>
              </a:rPr>
              <a:t>D</a:t>
            </a:r>
            <a:endParaRPr lang="zh-CN" altLang="en-US" sz="19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BF1FB-B8D8-5118-2C4F-80FBEC1CFD3D}"/>
              </a:ext>
            </a:extLst>
          </p:cNvPr>
          <p:cNvSpPr txBox="1"/>
          <p:nvPr/>
        </p:nvSpPr>
        <p:spPr>
          <a:xfrm>
            <a:off x="2692400" y="28956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111"/>
                </a:solidFill>
                <a:latin typeface="Aptos" panose="020B0004020202020204" pitchFamily="34" charset="0"/>
              </a:rPr>
              <a:t>declared analyst judgment, labeled rather than hidden</a:t>
            </a:r>
            <a:endParaRPr lang="zh-CN" altLang="en-US" sz="1600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ACC115-7144-B20C-24F1-8D20053DF08D}"/>
              </a:ext>
            </a:extLst>
          </p:cNvPr>
          <p:cNvSpPr/>
          <p:nvPr/>
        </p:nvSpPr>
        <p:spPr>
          <a:xfrm>
            <a:off x="406400" y="3848100"/>
            <a:ext cx="1955800" cy="838200"/>
          </a:xfrm>
          <a:prstGeom prst="roundRect">
            <a:avLst/>
          </a:prstGeom>
          <a:solidFill>
            <a:srgbClr val="0C11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F88CD9-2FB6-4988-830E-C46452F34337}"/>
              </a:ext>
            </a:extLst>
          </p:cNvPr>
          <p:cNvSpPr txBox="1"/>
          <p:nvPr/>
        </p:nvSpPr>
        <p:spPr>
          <a:xfrm>
            <a:off x="609600" y="40640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900" b="1">
                <a:solidFill>
                  <a:srgbClr val="C98A3F"/>
                </a:solidFill>
                <a:latin typeface="Aptos" panose="020B0004020202020204" pitchFamily="34" charset="0"/>
              </a:rPr>
              <a:t>GRAPH</a:t>
            </a:r>
            <a:endParaRPr lang="zh-CN" altLang="en-US" sz="19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0AA5FA-7DAF-9836-CBDA-2338AD95AFA3}"/>
              </a:ext>
            </a:extLst>
          </p:cNvPr>
          <p:cNvSpPr txBox="1"/>
          <p:nvPr/>
        </p:nvSpPr>
        <p:spPr>
          <a:xfrm>
            <a:off x="2692400" y="39624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111"/>
                </a:solidFill>
                <a:latin typeface="Aptos" panose="020B0004020202020204" pitchFamily="34" charset="0"/>
              </a:rPr>
              <a:t>deterministic output computed from the versioned snapshot</a:t>
            </a:r>
            <a:endParaRPr lang="zh-CN" altLang="en-US" sz="1600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3512ED-B270-F583-7101-F630ED407CF9}"/>
              </a:ext>
            </a:extLst>
          </p:cNvPr>
          <p:cNvSpPr/>
          <p:nvPr/>
        </p:nvSpPr>
        <p:spPr>
          <a:xfrm>
            <a:off x="406400" y="4914900"/>
            <a:ext cx="1955800" cy="838200"/>
          </a:xfrm>
          <a:prstGeom prst="roundRect">
            <a:avLst/>
          </a:prstGeom>
          <a:solidFill>
            <a:srgbClr val="0C11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13C5B0-6D53-BD4B-6A9C-F13FF6CD86DC}"/>
              </a:ext>
            </a:extLst>
          </p:cNvPr>
          <p:cNvSpPr txBox="1"/>
          <p:nvPr/>
        </p:nvSpPr>
        <p:spPr>
          <a:xfrm>
            <a:off x="609600" y="51308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900" b="1">
                <a:solidFill>
                  <a:srgbClr val="C98A3F"/>
                </a:solidFill>
                <a:latin typeface="Aptos" panose="020B0004020202020204" pitchFamily="34" charset="0"/>
              </a:rPr>
              <a:t>CONFIDENCE</a:t>
            </a:r>
            <a:endParaRPr lang="zh-CN" altLang="en-US" sz="19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C05F79-D3EF-1797-8018-EB4F1EE4E73C}"/>
              </a:ext>
            </a:extLst>
          </p:cNvPr>
          <p:cNvSpPr txBox="1"/>
          <p:nvPr/>
        </p:nvSpPr>
        <p:spPr>
          <a:xfrm>
            <a:off x="2692400" y="50292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111111"/>
                </a:solidFill>
                <a:latin typeface="Aptos" panose="020B0004020202020204" pitchFamily="34" charset="0"/>
              </a:rPr>
              <a:t>evidence quality shown beside magnitude, never folded into it</a:t>
            </a:r>
            <a:endParaRPr lang="zh-CN" altLang="en-US" sz="1600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EECB0B-BEEC-7F5C-5AEC-C04ACC682F05}"/>
              </a:ext>
            </a:extLst>
          </p:cNvPr>
          <p:cNvSpPr/>
          <p:nvPr/>
        </p:nvSpPr>
        <p:spPr>
          <a:xfrm>
            <a:off x="8128000" y="1714500"/>
            <a:ext cx="3657600" cy="40386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37BB88-ACBF-0A21-A880-F37D7E974FB8}"/>
              </a:ext>
            </a:extLst>
          </p:cNvPr>
          <p:cNvSpPr txBox="1"/>
          <p:nvPr/>
        </p:nvSpPr>
        <p:spPr>
          <a:xfrm>
            <a:off x="8432800" y="2032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111111"/>
                </a:solidFill>
                <a:latin typeface="Aptos" panose="020B0004020202020204" pitchFamily="34" charset="0"/>
              </a:rPr>
              <a:t>Reproduce a result with:</a:t>
            </a:r>
            <a:endParaRPr lang="zh-CN" altLang="en-US" sz="20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5C5DC1-1E4F-8B64-016F-6E61E051A845}"/>
              </a:ext>
            </a:extLst>
          </p:cNvPr>
          <p:cNvSpPr txBox="1"/>
          <p:nvPr/>
        </p:nvSpPr>
        <p:spPr>
          <a:xfrm>
            <a:off x="8432800" y="2692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>
                <a:solidFill>
                  <a:srgbClr val="666666"/>
                </a:solidFill>
                <a:latin typeface="Aptos" panose="020B0004020202020204" pitchFamily="34" charset="0"/>
              </a:rPr>
              <a:t>1. repository commit
2. snapshot date
3. event or scenario id
4. topology removals
5. low / base / high sensitivity case</a:t>
            </a:r>
            <a:endParaRPr lang="zh-CN" altLang="en-US" sz="17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3F60FC-004C-364E-EB89-70664C05FA7B}"/>
              </a:ext>
            </a:extLst>
          </p:cNvPr>
          <p:cNvSpPr txBox="1"/>
          <p:nvPr/>
        </p:nvSpPr>
        <p:spPr>
          <a:xfrm>
            <a:off x="8432800" y="48641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C98A3F"/>
                </a:solidFill>
                <a:latin typeface="Aptos" panose="020B0004020202020204" pitchFamily="34" charset="0"/>
              </a:rPr>
              <a:t>Declared priors are inspectable - and explicitly uncalibrated.</a:t>
            </a:r>
            <a:endParaRPr lang="zh-CN" altLang="en-US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174671-9895-CFEE-864A-390446B35E10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0D52A4A-36C4-8B3C-30CF-0020A789B485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51F5D8-67C7-9859-7B4F-09D3B89C9BA7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13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72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797F95-9B5A-7003-4667-8EE14B8A7F5C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29173-D769-DD14-1020-07E9152C58E8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Documentation gives every audience a different doorway into the same system.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Screenshot-frame-docs-methodology.png">
            <a:extLst>
              <a:ext uri="{FF2B5EF4-FFF2-40B4-BE49-F238E27FC236}">
                <a16:creationId xmlns:a16="http://schemas.microsoft.com/office/drawing/2014/main" id="{E7F0B5C0-2D24-7B96-94CE-05E9BC58962C}"/>
              </a:ext>
            </a:extLst>
          </p:cNvPr>
          <p:cNvSpPr/>
          <p:nvPr/>
        </p:nvSpPr>
        <p:spPr>
          <a:xfrm>
            <a:off x="406400" y="1600200"/>
            <a:ext cx="6731000" cy="4445000"/>
          </a:xfrm>
          <a:prstGeom prst="roundRect">
            <a:avLst/>
          </a:prstGeom>
          <a:solidFill>
            <a:srgbClr val="F1F1F1"/>
          </a:solidFill>
          <a:ln w="9525"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B7025-AFD4-91E2-A6E0-30B671EB1C72}"/>
              </a:ext>
            </a:extLst>
          </p:cNvPr>
          <p:cNvSpPr txBox="1"/>
          <p:nvPr/>
        </p:nvSpPr>
        <p:spPr>
          <a:xfrm>
            <a:off x="635000" y="1828800"/>
            <a:ext cx="627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LIVE PROJECT SCREENSHOT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12FA6-D140-F5D4-EE98-3874896BE320}"/>
              </a:ext>
            </a:extLst>
          </p:cNvPr>
          <p:cNvSpPr txBox="1"/>
          <p:nvPr/>
        </p:nvSpPr>
        <p:spPr>
          <a:xfrm>
            <a:off x="7670800" y="160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GENERAL PUBLIC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EE349-3C89-3F89-134C-6D65D820B63F}"/>
              </a:ext>
            </a:extLst>
          </p:cNvPr>
          <p:cNvSpPr txBox="1"/>
          <p:nvPr/>
        </p:nvSpPr>
        <p:spPr>
          <a:xfrm>
            <a:off x="7670800" y="19431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plain-language guide and interpretation limits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3C6F2-BF31-BF24-909A-006301F2CED1}"/>
              </a:ext>
            </a:extLst>
          </p:cNvPr>
          <p:cNvSpPr txBox="1"/>
          <p:nvPr/>
        </p:nvSpPr>
        <p:spPr>
          <a:xfrm>
            <a:off x="7670800" y="2692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ANALYSTS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5BA1B-1FBA-5ADF-55D1-97CA6C73A4EA}"/>
              </a:ext>
            </a:extLst>
          </p:cNvPr>
          <p:cNvSpPr txBox="1"/>
          <p:nvPr/>
        </p:nvSpPr>
        <p:spPr>
          <a:xfrm>
            <a:off x="7670800" y="30353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methodology, events, sources, and scenario workflow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544414-0D39-E2BE-42F9-7D4411390CF1}"/>
              </a:ext>
            </a:extLst>
          </p:cNvPr>
          <p:cNvSpPr txBox="1"/>
          <p:nvPr/>
        </p:nvSpPr>
        <p:spPr>
          <a:xfrm>
            <a:off x="7670800" y="3784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ACADEMICS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E9BDC-D72C-FF0E-C0D4-D8F8CA7A5DB4}"/>
              </a:ext>
            </a:extLst>
          </p:cNvPr>
          <p:cNvSpPr txBox="1"/>
          <p:nvPr/>
        </p:nvSpPr>
        <p:spPr>
          <a:xfrm>
            <a:off x="7670800" y="412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reproducibility, evidence tiers, validation boundary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70E784-2CBD-64BD-65B3-930B196E55DA}"/>
              </a:ext>
            </a:extLst>
          </p:cNvPr>
          <p:cNvSpPr txBox="1"/>
          <p:nvPr/>
        </p:nvSpPr>
        <p:spPr>
          <a:xfrm>
            <a:off x="7670800" y="4876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C98A3F"/>
                </a:solidFill>
                <a:latin typeface="Aptos" panose="020B0004020202020204" pitchFamily="34" charset="0"/>
              </a:rPr>
              <a:t>DEVELOPERS</a:t>
            </a:r>
            <a:endParaRPr lang="zh-CN" altLang="en-US" sz="12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A65C6A-875F-7F18-B27A-3729EC62AB1C}"/>
              </a:ext>
            </a:extLst>
          </p:cNvPr>
          <p:cNvSpPr txBox="1"/>
          <p:nvPr/>
        </p:nvSpPr>
        <p:spPr>
          <a:xfrm>
            <a:off x="7670800" y="5219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11111"/>
                </a:solidFill>
                <a:latin typeface="Aptos" panose="020B0004020202020204" pitchFamily="34" charset="0"/>
              </a:rPr>
              <a:t>architecture, data contracts, tests, and publication</a:t>
            </a:r>
            <a:endParaRPr lang="zh-CN" altLang="en-US" sz="16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4458C5-D949-E1DF-F56F-DB71BAF850AC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BED8B7F-B945-55E5-9BD4-E9C390874066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5D565A-C638-32FB-54A8-5BECA38E228E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14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8CAE00-4062-2E80-76E7-039C5534E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47" y="2035154"/>
            <a:ext cx="4491611" cy="428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40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33C1CF-886B-CCA0-42BF-26FDA2AAC5F9}"/>
              </a:ext>
            </a:extLst>
          </p:cNvPr>
          <p:cNvSpPr txBox="1"/>
          <p:nvPr/>
        </p:nvSpPr>
        <p:spPr>
          <a:xfrm>
            <a:off x="406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 b="1">
                <a:solidFill>
                  <a:srgbClr val="C98A3F"/>
                </a:solidFill>
                <a:latin typeface="Aptos" panose="020B0004020202020204" pitchFamily="34" charset="0"/>
              </a:rPr>
              <a:t>SSCIM</a:t>
            </a:r>
            <a:endParaRPr lang="zh-CN" altLang="en-US" sz="11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E796A-0E32-BC79-9833-10E1CE196C56}"/>
              </a:ext>
            </a:extLst>
          </p:cNvPr>
          <p:cNvSpPr txBox="1"/>
          <p:nvPr/>
        </p:nvSpPr>
        <p:spPr>
          <a:xfrm>
            <a:off x="406400" y="609600"/>
            <a:ext cx="1137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 b="1">
                <a:solidFill>
                  <a:srgbClr val="111111"/>
                </a:solidFill>
                <a:latin typeface="Aptos" panose="020B0004020202020204" pitchFamily="34" charset="0"/>
              </a:rPr>
              <a:t>The roadmap is a data program before it is a modeling program.</a:t>
            </a:r>
            <a:endParaRPr lang="zh-CN" altLang="en-US" sz="35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5CC7DD-7CC1-E53A-03D1-2D9B39827BC4}"/>
              </a:ext>
            </a:extLst>
          </p:cNvPr>
          <p:cNvSpPr/>
          <p:nvPr/>
        </p:nvSpPr>
        <p:spPr>
          <a:xfrm>
            <a:off x="406400" y="2019300"/>
            <a:ext cx="2082800" cy="3111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0CE00-6C27-2FC6-A57C-6DA76BCFAE3D}"/>
              </a:ext>
            </a:extLst>
          </p:cNvPr>
          <p:cNvSpPr txBox="1"/>
          <p:nvPr/>
        </p:nvSpPr>
        <p:spPr>
          <a:xfrm>
            <a:off x="609600" y="2298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111111"/>
                </a:solidFill>
                <a:latin typeface="Aptos" panose="020B0004020202020204" pitchFamily="34" charset="0"/>
              </a:rPr>
              <a:t>Facility layer</a:t>
            </a:r>
            <a:endParaRPr lang="zh-CN" altLang="en-US" sz="20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6E6E67-7002-8532-7145-58450E3A11F6}"/>
              </a:ext>
            </a:extLst>
          </p:cNvPr>
          <p:cNvCxnSpPr/>
          <p:nvPr/>
        </p:nvCxnSpPr>
        <p:spPr>
          <a:xfrm>
            <a:off x="609600" y="3149600"/>
            <a:ext cx="1651000" cy="0"/>
          </a:xfrm>
          <a:prstGeom prst="straightConnector1">
            <a:avLst/>
          </a:prstGeom>
          <a:ln w="38100">
            <a:solidFill>
              <a:srgbClr val="C98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0B322EF-EFD2-F598-055E-E9568995255B}"/>
              </a:ext>
            </a:extLst>
          </p:cNvPr>
          <p:cNvSpPr txBox="1"/>
          <p:nvPr/>
        </p:nvSpPr>
        <p:spPr>
          <a:xfrm>
            <a:off x="609600" y="3530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actual production sites, capacity, utilization, and geography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AB44B5-C1FF-389F-E9CD-E588FCCCA435}"/>
              </a:ext>
            </a:extLst>
          </p:cNvPr>
          <p:cNvSpPr/>
          <p:nvPr/>
        </p:nvSpPr>
        <p:spPr>
          <a:xfrm>
            <a:off x="2692400" y="2019300"/>
            <a:ext cx="2082800" cy="3111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A79B3-0226-433C-973A-CF81AB7A69BA}"/>
              </a:ext>
            </a:extLst>
          </p:cNvPr>
          <p:cNvSpPr txBox="1"/>
          <p:nvPr/>
        </p:nvSpPr>
        <p:spPr>
          <a:xfrm>
            <a:off x="2895600" y="2298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111111"/>
                </a:solidFill>
                <a:latin typeface="Aptos" panose="020B0004020202020204" pitchFamily="34" charset="0"/>
              </a:rPr>
              <a:t>Buffer layer</a:t>
            </a:r>
            <a:endParaRPr lang="zh-CN" altLang="en-US" sz="20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A77F6D-3697-047C-3607-71FD3AF8859A}"/>
              </a:ext>
            </a:extLst>
          </p:cNvPr>
          <p:cNvCxnSpPr/>
          <p:nvPr/>
        </p:nvCxnSpPr>
        <p:spPr>
          <a:xfrm>
            <a:off x="2895600" y="3149600"/>
            <a:ext cx="1651000" cy="0"/>
          </a:xfrm>
          <a:prstGeom prst="straightConnector1">
            <a:avLst/>
          </a:prstGeom>
          <a:ln w="38100">
            <a:solidFill>
              <a:srgbClr val="C98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C5AF1CD-1602-6025-2DEE-00806379F2D0}"/>
              </a:ext>
            </a:extLst>
          </p:cNvPr>
          <p:cNvSpPr txBox="1"/>
          <p:nvPr/>
        </p:nvSpPr>
        <p:spPr>
          <a:xfrm>
            <a:off x="2895600" y="3530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inventory days, time-to-recover, and time-to-switch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F97A86-FD39-DE9B-B9D3-7DAF3FFDDD1A}"/>
              </a:ext>
            </a:extLst>
          </p:cNvPr>
          <p:cNvSpPr/>
          <p:nvPr/>
        </p:nvSpPr>
        <p:spPr>
          <a:xfrm>
            <a:off x="4978400" y="2019300"/>
            <a:ext cx="2082800" cy="3111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66DD75-B22C-4569-0CE6-375DC23BBC16}"/>
              </a:ext>
            </a:extLst>
          </p:cNvPr>
          <p:cNvSpPr txBox="1"/>
          <p:nvPr/>
        </p:nvSpPr>
        <p:spPr>
          <a:xfrm>
            <a:off x="5181600" y="2298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111111"/>
                </a:solidFill>
                <a:latin typeface="Aptos" panose="020B0004020202020204" pitchFamily="34" charset="0"/>
              </a:rPr>
              <a:t>Dependence layer</a:t>
            </a:r>
            <a:endParaRPr lang="zh-CN" altLang="en-US" sz="20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4A5E0A-3F3E-AF93-97F5-B4891DCB33FC}"/>
              </a:ext>
            </a:extLst>
          </p:cNvPr>
          <p:cNvCxnSpPr/>
          <p:nvPr/>
        </p:nvCxnSpPr>
        <p:spPr>
          <a:xfrm>
            <a:off x="5181600" y="3149600"/>
            <a:ext cx="1651000" cy="0"/>
          </a:xfrm>
          <a:prstGeom prst="straightConnector1">
            <a:avLst/>
          </a:prstGeom>
          <a:ln w="38100">
            <a:solidFill>
              <a:srgbClr val="C98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E78667F-CF5D-4268-D9EF-B606F07A4C2A}"/>
              </a:ext>
            </a:extLst>
          </p:cNvPr>
          <p:cNvSpPr txBox="1"/>
          <p:nvPr/>
        </p:nvSpPr>
        <p:spPr>
          <a:xfrm>
            <a:off x="5181600" y="3530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bill of materials, buyer input share, supplier revenue share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3F2D004-F6DE-E601-911C-F8334E46BC71}"/>
              </a:ext>
            </a:extLst>
          </p:cNvPr>
          <p:cNvSpPr/>
          <p:nvPr/>
        </p:nvSpPr>
        <p:spPr>
          <a:xfrm>
            <a:off x="7264400" y="2019300"/>
            <a:ext cx="2082800" cy="3111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BAAB45-03F5-D586-3520-92B80D706D0D}"/>
              </a:ext>
            </a:extLst>
          </p:cNvPr>
          <p:cNvSpPr txBox="1"/>
          <p:nvPr/>
        </p:nvSpPr>
        <p:spPr>
          <a:xfrm>
            <a:off x="7467600" y="2298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111111"/>
                </a:solidFill>
                <a:latin typeface="Aptos" panose="020B0004020202020204" pitchFamily="34" charset="0"/>
              </a:rPr>
              <a:t>Qualification layer</a:t>
            </a:r>
            <a:endParaRPr lang="zh-CN" altLang="en-US" sz="20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F57AD9-A319-46AA-81D7-8A42F5452E03}"/>
              </a:ext>
            </a:extLst>
          </p:cNvPr>
          <p:cNvCxnSpPr/>
          <p:nvPr/>
        </p:nvCxnSpPr>
        <p:spPr>
          <a:xfrm>
            <a:off x="7467600" y="3149600"/>
            <a:ext cx="1651000" cy="0"/>
          </a:xfrm>
          <a:prstGeom prst="straightConnector1">
            <a:avLst/>
          </a:prstGeom>
          <a:ln w="38100">
            <a:solidFill>
              <a:srgbClr val="C98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66D32C1-583F-C89F-E7BB-46E106913A83}"/>
              </a:ext>
            </a:extLst>
          </p:cNvPr>
          <p:cNvSpPr txBox="1"/>
          <p:nvPr/>
        </p:nvSpPr>
        <p:spPr>
          <a:xfrm>
            <a:off x="7467600" y="3530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alternate suppliers and switching feasibility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D907F91-1149-EB6F-35EC-AD5EAAB6E97D}"/>
              </a:ext>
            </a:extLst>
          </p:cNvPr>
          <p:cNvSpPr/>
          <p:nvPr/>
        </p:nvSpPr>
        <p:spPr>
          <a:xfrm>
            <a:off x="9550400" y="2019300"/>
            <a:ext cx="2082800" cy="3111500"/>
          </a:xfrm>
          <a:prstGeom prst="round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5936B-9D73-0D84-428E-24E01D9706E0}"/>
              </a:ext>
            </a:extLst>
          </p:cNvPr>
          <p:cNvSpPr txBox="1"/>
          <p:nvPr/>
        </p:nvSpPr>
        <p:spPr>
          <a:xfrm>
            <a:off x="9753600" y="22987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111111"/>
                </a:solidFill>
                <a:latin typeface="Aptos" panose="020B0004020202020204" pitchFamily="34" charset="0"/>
              </a:rPr>
              <a:t>Calibration layer</a:t>
            </a:r>
            <a:endParaRPr lang="zh-CN" altLang="en-US" sz="2000" b="1">
              <a:solidFill>
                <a:srgbClr val="111111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7F3187-8E3E-68B6-E15E-717922E6E51A}"/>
              </a:ext>
            </a:extLst>
          </p:cNvPr>
          <p:cNvCxnSpPr/>
          <p:nvPr/>
        </p:nvCxnSpPr>
        <p:spPr>
          <a:xfrm>
            <a:off x="9753600" y="3149600"/>
            <a:ext cx="1651000" cy="0"/>
          </a:xfrm>
          <a:prstGeom prst="straightConnector1">
            <a:avLst/>
          </a:prstGeom>
          <a:ln w="38100">
            <a:solidFill>
              <a:srgbClr val="C98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99A1FE1-B0F1-AF9C-0728-D81DB7B49577}"/>
              </a:ext>
            </a:extLst>
          </p:cNvPr>
          <p:cNvSpPr txBox="1"/>
          <p:nvPr/>
        </p:nvSpPr>
        <p:spPr>
          <a:xfrm>
            <a:off x="9753600" y="35306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>
                <a:solidFill>
                  <a:srgbClr val="666666"/>
                </a:solidFill>
                <a:latin typeface="Aptos" panose="020B0004020202020204" pitchFamily="34" charset="0"/>
              </a:rPr>
              <a:t>historical disruption outcomes and goodness-of-fit</a:t>
            </a:r>
            <a:endParaRPr lang="zh-CN" altLang="en-US" sz="16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C2ECCF-CBAD-B716-3D20-C60932550938}"/>
              </a:ext>
            </a:extLst>
          </p:cNvPr>
          <p:cNvSpPr txBox="1"/>
          <p:nvPr/>
        </p:nvSpPr>
        <p:spPr>
          <a:xfrm>
            <a:off x="1549400" y="5562600"/>
            <a:ext cx="909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2000" b="1">
                <a:solidFill>
                  <a:srgbClr val="C98A3F"/>
                </a:solidFill>
                <a:latin typeface="Aptos" panose="020B0004020202020204" pitchFamily="34" charset="0"/>
              </a:rPr>
              <a:t>Until those layers exist, SSCIM remains a transparent sensitivity model - not a forecast or loss estimator.</a:t>
            </a:r>
            <a:endParaRPr lang="zh-CN" altLang="en-US" sz="20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8EB29B-6AF5-7DB6-4BF6-1C52686841F4}"/>
              </a:ext>
            </a:extLst>
          </p:cNvPr>
          <p:cNvCxnSpPr/>
          <p:nvPr/>
        </p:nvCxnSpPr>
        <p:spPr>
          <a:xfrm>
            <a:off x="406400" y="6477000"/>
            <a:ext cx="11379200" cy="0"/>
          </a:xfrm>
          <a:prstGeom prst="straightConnector1">
            <a:avLst/>
          </a:prstGeom>
          <a:ln w="762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60F5C65-E40B-A656-DE86-BFB13F66924F}"/>
              </a:ext>
            </a:extLst>
          </p:cNvPr>
          <p:cNvSpPr txBox="1"/>
          <p:nvPr/>
        </p:nvSpPr>
        <p:spPr>
          <a:xfrm>
            <a:off x="406400" y="6553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SSCIM - explainable semiconductor supply-chain intelligence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FD7ECF-40A1-F923-EC15-E4473F3C09F9}"/>
              </a:ext>
            </a:extLst>
          </p:cNvPr>
          <p:cNvSpPr txBox="1"/>
          <p:nvPr/>
        </p:nvSpPr>
        <p:spPr>
          <a:xfrm>
            <a:off x="11303000" y="65532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>
                <a:solidFill>
                  <a:srgbClr val="666666"/>
                </a:solidFill>
                <a:latin typeface="Aptos" panose="020B0004020202020204" pitchFamily="34" charset="0"/>
              </a:rPr>
              <a:t>15</a:t>
            </a:r>
            <a:endParaRPr lang="zh-CN" altLang="en-US" sz="900">
              <a:solidFill>
                <a:srgbClr val="666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123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SCIM logo">
            <a:extLst>
              <a:ext uri="{FF2B5EF4-FFF2-40B4-BE49-F238E27FC236}">
                <a16:creationId xmlns:a16="http://schemas.microsoft.com/office/drawing/2014/main" id="{87206B56-66F6-20F4-38D6-33C2D363BE4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31800"/>
            <a:ext cx="1905000" cy="76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467D88-6E39-8CA2-8A0C-165E47B13ABA}"/>
              </a:ext>
            </a:extLst>
          </p:cNvPr>
          <p:cNvSpPr txBox="1"/>
          <p:nvPr/>
        </p:nvSpPr>
        <p:spPr>
          <a:xfrm>
            <a:off x="533400" y="16764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C98A3F"/>
                </a:solidFill>
                <a:latin typeface="Aptos" panose="020B0004020202020204" pitchFamily="34" charset="0"/>
              </a:rPr>
              <a:t>EXPLAINABLE BY CONSTRUCTION</a:t>
            </a:r>
            <a:endParaRPr lang="zh-CN" altLang="en-US" sz="13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3A447-926F-C742-AA35-C7009BEF6511}"/>
              </a:ext>
            </a:extLst>
          </p:cNvPr>
          <p:cNvSpPr txBox="1"/>
          <p:nvPr/>
        </p:nvSpPr>
        <p:spPr>
          <a:xfrm>
            <a:off x="533400" y="21971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700" b="1">
                <a:solidFill>
                  <a:srgbClr val="FFFFFF"/>
                </a:solidFill>
                <a:latin typeface="Aptos" panose="020B0004020202020204" pitchFamily="34" charset="0"/>
              </a:rPr>
              <a:t>Explore the chain. Challenge the assumptions. Improve the evidence.</a:t>
            </a:r>
            <a:endParaRPr lang="zh-CN" altLang="en-US" sz="4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304BF-7B42-EBF1-4278-D9BCDFB46FD8}"/>
              </a:ext>
            </a:extLst>
          </p:cNvPr>
          <p:cNvSpPr txBox="1"/>
          <p:nvPr/>
        </p:nvSpPr>
        <p:spPr>
          <a:xfrm>
            <a:off x="533400" y="41529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>
                <a:solidFill>
                  <a:srgbClr val="E1D2C9"/>
                </a:solidFill>
                <a:latin typeface="Aptos" panose="020B0004020202020204" pitchFamily="34" charset="0"/>
              </a:rPr>
              <a:t>SSCIM makes the method visible, keeps human review authoritative, and preserves a usable public snapshot even when the live backend is offline.</a:t>
            </a:r>
            <a:endParaRPr lang="zh-CN" altLang="en-US" sz="2000">
              <a:solidFill>
                <a:srgbClr val="E1D2C9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6307CB-AC1B-B787-C02C-485A0543C18F}"/>
              </a:ext>
            </a:extLst>
          </p:cNvPr>
          <p:cNvSpPr txBox="1"/>
          <p:nvPr/>
        </p:nvSpPr>
        <p:spPr>
          <a:xfrm>
            <a:off x="533400" y="5829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C98A3F"/>
                </a:solidFill>
                <a:latin typeface="Aptos" panose="020B0004020202020204" pitchFamily="34" charset="0"/>
              </a:rPr>
              <a:t>sscim.railgunbreaker.icu</a:t>
            </a:r>
            <a:endParaRPr lang="zh-CN" altLang="en-US" sz="1600" b="1">
              <a:solidFill>
                <a:srgbClr val="C98A3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A84C1-C470-2952-FF0E-AED4C52EB83F}"/>
              </a:ext>
            </a:extLst>
          </p:cNvPr>
          <p:cNvSpPr txBox="1"/>
          <p:nvPr/>
        </p:nvSpPr>
        <p:spPr>
          <a:xfrm>
            <a:off x="533400" y="62103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FFFFFF"/>
                </a:solidFill>
                <a:latin typeface="Aptos" panose="020B0004020202020204" pitchFamily="34" charset="0"/>
              </a:rPr>
              <a:t>Documentation  |  Dashboard  |  Reviewed vault</a:t>
            </a:r>
            <a:endParaRPr lang="zh-CN" altLang="en-US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4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1285</Words>
  <Application>Microsoft Office PowerPoint</Application>
  <PresentationFormat>Widescreen</PresentationFormat>
  <Paragraphs>233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ＳＯＮＧ Ｇｕｏｈｕａ(gl0042hs)</dc:creator>
  <cp:lastModifiedBy>ＳＯＮＧ Ｇｕｏｈｕａ(gl0042hs)</cp:lastModifiedBy>
  <cp:revision>2</cp:revision>
  <dcterms:created xsi:type="dcterms:W3CDTF">2026-07-29T16:16:42Z</dcterms:created>
  <dcterms:modified xsi:type="dcterms:W3CDTF">2026-07-29T16:24:32Z</dcterms:modified>
</cp:coreProperties>
</file>